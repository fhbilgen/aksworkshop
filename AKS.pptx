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0" r:id="rId4"/>
    <p:sldId id="262" r:id="rId5"/>
    <p:sldId id="263" r:id="rId6"/>
    <p:sldId id="257" r:id="rId7"/>
    <p:sldId id="258" r:id="rId8"/>
    <p:sldId id="259" r:id="rId9"/>
    <p:sldId id="264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6" d="100"/>
          <a:sy n="96" d="100"/>
        </p:scale>
        <p:origin x="115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ik bilgen" userId="9fcb1696e65a161f" providerId="LiveId" clId="{0C3A4C9E-717D-4ADE-97E0-B0AD580B3355}"/>
    <pc:docChg chg="undo custSel addSld modSld">
      <pc:chgData name="faik bilgen" userId="9fcb1696e65a161f" providerId="LiveId" clId="{0C3A4C9E-717D-4ADE-97E0-B0AD580B3355}" dt="2026-01-07T06:25:41.831" v="157" actId="20577"/>
      <pc:docMkLst>
        <pc:docMk/>
      </pc:docMkLst>
      <pc:sldChg chg="addSp modSp mod setBg addAnim">
        <pc:chgData name="faik bilgen" userId="9fcb1696e65a161f" providerId="LiveId" clId="{0C3A4C9E-717D-4ADE-97E0-B0AD580B3355}" dt="2026-01-06T16:11:31.035" v="7"/>
        <pc:sldMkLst>
          <pc:docMk/>
          <pc:sldMk cId="3826261541" sldId="264"/>
        </pc:sldMkLst>
        <pc:spChg chg="mod">
          <ac:chgData name="faik bilgen" userId="9fcb1696e65a161f" providerId="LiveId" clId="{0C3A4C9E-717D-4ADE-97E0-B0AD580B3355}" dt="2026-01-06T16:11:31.035" v="6" actId="26606"/>
          <ac:spMkLst>
            <pc:docMk/>
            <pc:sldMk cId="3826261541" sldId="264"/>
            <ac:spMk id="2" creationId="{EABE0B89-E77A-F662-6D28-4839F54E21E2}"/>
          </ac:spMkLst>
        </pc:spChg>
        <pc:spChg chg="add">
          <ac:chgData name="faik bilgen" userId="9fcb1696e65a161f" providerId="LiveId" clId="{0C3A4C9E-717D-4ADE-97E0-B0AD580B3355}" dt="2026-01-06T16:11:31.035" v="6" actId="26606"/>
          <ac:spMkLst>
            <pc:docMk/>
            <pc:sldMk cId="3826261541" sldId="264"/>
            <ac:spMk id="7" creationId="{FFD48BC7-DC40-47DE-87EE-9F4B6ECB9ABB}"/>
          </ac:spMkLst>
        </pc:spChg>
        <pc:spChg chg="add">
          <ac:chgData name="faik bilgen" userId="9fcb1696e65a161f" providerId="LiveId" clId="{0C3A4C9E-717D-4ADE-97E0-B0AD580B3355}" dt="2026-01-06T16:11:31.035" v="6" actId="26606"/>
          <ac:spMkLst>
            <pc:docMk/>
            <pc:sldMk cId="3826261541" sldId="264"/>
            <ac:spMk id="9" creationId="{E502BBC7-2C76-46F3-BC24-5985BC13DB88}"/>
          </ac:spMkLst>
        </pc:spChg>
        <pc:spChg chg="add">
          <ac:chgData name="faik bilgen" userId="9fcb1696e65a161f" providerId="LiveId" clId="{0C3A4C9E-717D-4ADE-97E0-B0AD580B3355}" dt="2026-01-06T16:11:31.035" v="6" actId="26606"/>
          <ac:spMkLst>
            <pc:docMk/>
            <pc:sldMk cId="3826261541" sldId="264"/>
            <ac:spMk id="11" creationId="{C7F28D52-2A5F-4D23-81AE-7CB8B591C7AF}"/>
          </ac:spMkLst>
        </pc:spChg>
        <pc:spChg chg="add">
          <ac:chgData name="faik bilgen" userId="9fcb1696e65a161f" providerId="LiveId" clId="{0C3A4C9E-717D-4ADE-97E0-B0AD580B3355}" dt="2026-01-06T16:11:31.035" v="6" actId="26606"/>
          <ac:spMkLst>
            <pc:docMk/>
            <pc:sldMk cId="3826261541" sldId="264"/>
            <ac:spMk id="13" creationId="{3629484E-3792-4B3D-89AD-7C8A1ED0E0D4}"/>
          </ac:spMkLst>
        </pc:spChg>
      </pc:sldChg>
      <pc:sldChg chg="addSp delSp modSp mod setBg addAnim delAnim">
        <pc:chgData name="faik bilgen" userId="9fcb1696e65a161f" providerId="LiveId" clId="{0C3A4C9E-717D-4ADE-97E0-B0AD580B3355}" dt="2026-01-06T16:11:23.483" v="5" actId="26606"/>
        <pc:sldMkLst>
          <pc:docMk/>
          <pc:sldMk cId="3229684071" sldId="265"/>
        </pc:sldMkLst>
        <pc:spChg chg="mod">
          <ac:chgData name="faik bilgen" userId="9fcb1696e65a161f" providerId="LiveId" clId="{0C3A4C9E-717D-4ADE-97E0-B0AD580B3355}" dt="2026-01-06T16:11:23.483" v="5" actId="26606"/>
          <ac:spMkLst>
            <pc:docMk/>
            <pc:sldMk cId="3229684071" sldId="265"/>
            <ac:spMk id="2" creationId="{E7ABDE96-608C-110E-E9D1-C9B7D2B49B6F}"/>
          </ac:spMkLst>
        </pc:spChg>
        <pc:spChg chg="add del">
          <ac:chgData name="faik bilgen" userId="9fcb1696e65a161f" providerId="LiveId" clId="{0C3A4C9E-717D-4ADE-97E0-B0AD580B3355}" dt="2026-01-06T16:11:18.805" v="2" actId="26606"/>
          <ac:spMkLst>
            <pc:docMk/>
            <pc:sldMk cId="3229684071" sldId="265"/>
            <ac:spMk id="7" creationId="{6F5A5072-7B47-4D32-B52A-4EBBF590B8A5}"/>
          </ac:spMkLst>
        </pc:spChg>
        <pc:spChg chg="add del">
          <ac:chgData name="faik bilgen" userId="9fcb1696e65a161f" providerId="LiveId" clId="{0C3A4C9E-717D-4ADE-97E0-B0AD580B3355}" dt="2026-01-06T16:11:18.805" v="2" actId="26606"/>
          <ac:spMkLst>
            <pc:docMk/>
            <pc:sldMk cId="3229684071" sldId="265"/>
            <ac:spMk id="9" creationId="{9715DAF0-AE1B-46C9-8A6B-DB2AA05AB91D}"/>
          </ac:spMkLst>
        </pc:spChg>
        <pc:spChg chg="add del">
          <ac:chgData name="faik bilgen" userId="9fcb1696e65a161f" providerId="LiveId" clId="{0C3A4C9E-717D-4ADE-97E0-B0AD580B3355}" dt="2026-01-06T16:11:18.805" v="2" actId="26606"/>
          <ac:spMkLst>
            <pc:docMk/>
            <pc:sldMk cId="3229684071" sldId="265"/>
            <ac:spMk id="11" creationId="{6016219D-510E-4184-9090-6D5578A87BD1}"/>
          </ac:spMkLst>
        </pc:spChg>
        <pc:spChg chg="add del">
          <ac:chgData name="faik bilgen" userId="9fcb1696e65a161f" providerId="LiveId" clId="{0C3A4C9E-717D-4ADE-97E0-B0AD580B3355}" dt="2026-01-06T16:11:18.805" v="2" actId="26606"/>
          <ac:spMkLst>
            <pc:docMk/>
            <pc:sldMk cId="3229684071" sldId="265"/>
            <ac:spMk id="13" creationId="{AFF4A713-7B75-4B21-90D7-5AB19547C728}"/>
          </ac:spMkLst>
        </pc:spChg>
        <pc:spChg chg="add del">
          <ac:chgData name="faik bilgen" userId="9fcb1696e65a161f" providerId="LiveId" clId="{0C3A4C9E-717D-4ADE-97E0-B0AD580B3355}" dt="2026-01-06T16:11:18.805" v="2" actId="26606"/>
          <ac:spMkLst>
            <pc:docMk/>
            <pc:sldMk cId="3229684071" sldId="265"/>
            <ac:spMk id="15" creationId="{DC631C0B-6DA6-4E57-8231-CE32B3434A7E}"/>
          </ac:spMkLst>
        </pc:spChg>
        <pc:spChg chg="add del">
          <ac:chgData name="faik bilgen" userId="9fcb1696e65a161f" providerId="LiveId" clId="{0C3A4C9E-717D-4ADE-97E0-B0AD580B3355}" dt="2026-01-06T16:11:18.805" v="2" actId="26606"/>
          <ac:spMkLst>
            <pc:docMk/>
            <pc:sldMk cId="3229684071" sldId="265"/>
            <ac:spMk id="17" creationId="{C29501E6-A978-4A61-9689-9085AF97A53A}"/>
          </ac:spMkLst>
        </pc:spChg>
        <pc:spChg chg="add del">
          <ac:chgData name="faik bilgen" userId="9fcb1696e65a161f" providerId="LiveId" clId="{0C3A4C9E-717D-4ADE-97E0-B0AD580B3355}" dt="2026-01-06T16:11:23.477" v="4" actId="26606"/>
          <ac:spMkLst>
            <pc:docMk/>
            <pc:sldMk cId="3229684071" sldId="265"/>
            <ac:spMk id="19" creationId="{4734BADF-9461-4621-B112-2D7BABEA7DD0}"/>
          </ac:spMkLst>
        </pc:spChg>
        <pc:spChg chg="add del">
          <ac:chgData name="faik bilgen" userId="9fcb1696e65a161f" providerId="LiveId" clId="{0C3A4C9E-717D-4ADE-97E0-B0AD580B3355}" dt="2026-01-06T16:11:23.477" v="4" actId="26606"/>
          <ac:spMkLst>
            <pc:docMk/>
            <pc:sldMk cId="3229684071" sldId="265"/>
            <ac:spMk id="20" creationId="{8C790BE2-4E4F-4AAF-81A2-4A6F4885EBE6}"/>
          </ac:spMkLst>
        </pc:spChg>
        <pc:spChg chg="add del">
          <ac:chgData name="faik bilgen" userId="9fcb1696e65a161f" providerId="LiveId" clId="{0C3A4C9E-717D-4ADE-97E0-B0AD580B3355}" dt="2026-01-06T16:11:23.477" v="4" actId="26606"/>
          <ac:spMkLst>
            <pc:docMk/>
            <pc:sldMk cId="3229684071" sldId="265"/>
            <ac:spMk id="21" creationId="{D28B54C3-B57B-472A-B96E-1FCB67093DC2}"/>
          </ac:spMkLst>
        </pc:spChg>
        <pc:spChg chg="add del">
          <ac:chgData name="faik bilgen" userId="9fcb1696e65a161f" providerId="LiveId" clId="{0C3A4C9E-717D-4ADE-97E0-B0AD580B3355}" dt="2026-01-06T16:11:23.477" v="4" actId="26606"/>
          <ac:spMkLst>
            <pc:docMk/>
            <pc:sldMk cId="3229684071" sldId="265"/>
            <ac:spMk id="22" creationId="{7DB3C429-F8DA-49B9-AF84-21996FCF78B5}"/>
          </ac:spMkLst>
        </pc:spChg>
        <pc:spChg chg="add del">
          <ac:chgData name="faik bilgen" userId="9fcb1696e65a161f" providerId="LiveId" clId="{0C3A4C9E-717D-4ADE-97E0-B0AD580B3355}" dt="2026-01-06T16:11:23.477" v="4" actId="26606"/>
          <ac:spMkLst>
            <pc:docMk/>
            <pc:sldMk cId="3229684071" sldId="265"/>
            <ac:spMk id="23" creationId="{E12088DD-B1AD-40E0-8B86-1D87A2CCD9BE}"/>
          </ac:spMkLst>
        </pc:spChg>
        <pc:spChg chg="add del">
          <ac:chgData name="faik bilgen" userId="9fcb1696e65a161f" providerId="LiveId" clId="{0C3A4C9E-717D-4ADE-97E0-B0AD580B3355}" dt="2026-01-06T16:11:23.477" v="4" actId="26606"/>
          <ac:spMkLst>
            <pc:docMk/>
            <pc:sldMk cId="3229684071" sldId="265"/>
            <ac:spMk id="24" creationId="{C4C9F2B0-1044-46EB-8AEB-C3BFFDE6C2CC}"/>
          </ac:spMkLst>
        </pc:spChg>
        <pc:spChg chg="add del">
          <ac:chgData name="faik bilgen" userId="9fcb1696e65a161f" providerId="LiveId" clId="{0C3A4C9E-717D-4ADE-97E0-B0AD580B3355}" dt="2026-01-06T16:11:23.477" v="4" actId="26606"/>
          <ac:spMkLst>
            <pc:docMk/>
            <pc:sldMk cId="3229684071" sldId="265"/>
            <ac:spMk id="25" creationId="{0C395952-4E26-45A2-8756-2ADFD6E53C6E}"/>
          </ac:spMkLst>
        </pc:spChg>
        <pc:spChg chg="add">
          <ac:chgData name="faik bilgen" userId="9fcb1696e65a161f" providerId="LiveId" clId="{0C3A4C9E-717D-4ADE-97E0-B0AD580B3355}" dt="2026-01-06T16:11:23.483" v="5" actId="26606"/>
          <ac:spMkLst>
            <pc:docMk/>
            <pc:sldMk cId="3229684071" sldId="265"/>
            <ac:spMk id="27" creationId="{FFD48BC7-DC40-47DE-87EE-9F4B6ECB9ABB}"/>
          </ac:spMkLst>
        </pc:spChg>
        <pc:spChg chg="add">
          <ac:chgData name="faik bilgen" userId="9fcb1696e65a161f" providerId="LiveId" clId="{0C3A4C9E-717D-4ADE-97E0-B0AD580B3355}" dt="2026-01-06T16:11:23.483" v="5" actId="26606"/>
          <ac:spMkLst>
            <pc:docMk/>
            <pc:sldMk cId="3229684071" sldId="265"/>
            <ac:spMk id="28" creationId="{E502BBC7-2C76-46F3-BC24-5985BC13DB88}"/>
          </ac:spMkLst>
        </pc:spChg>
        <pc:spChg chg="add">
          <ac:chgData name="faik bilgen" userId="9fcb1696e65a161f" providerId="LiveId" clId="{0C3A4C9E-717D-4ADE-97E0-B0AD580B3355}" dt="2026-01-06T16:11:23.483" v="5" actId="26606"/>
          <ac:spMkLst>
            <pc:docMk/>
            <pc:sldMk cId="3229684071" sldId="265"/>
            <ac:spMk id="29" creationId="{C7F28D52-2A5F-4D23-81AE-7CB8B591C7AF}"/>
          </ac:spMkLst>
        </pc:spChg>
        <pc:spChg chg="add">
          <ac:chgData name="faik bilgen" userId="9fcb1696e65a161f" providerId="LiveId" clId="{0C3A4C9E-717D-4ADE-97E0-B0AD580B3355}" dt="2026-01-06T16:11:23.483" v="5" actId="26606"/>
          <ac:spMkLst>
            <pc:docMk/>
            <pc:sldMk cId="3229684071" sldId="265"/>
            <ac:spMk id="30" creationId="{3629484E-3792-4B3D-89AD-7C8A1ED0E0D4}"/>
          </ac:spMkLst>
        </pc:spChg>
      </pc:sldChg>
      <pc:sldChg chg="addSp delSp modSp new mod">
        <pc:chgData name="faik bilgen" userId="9fcb1696e65a161f" providerId="LiveId" clId="{0C3A4C9E-717D-4ADE-97E0-B0AD580B3355}" dt="2026-01-07T06:25:41.831" v="157" actId="20577"/>
        <pc:sldMkLst>
          <pc:docMk/>
          <pc:sldMk cId="1874607520" sldId="266"/>
        </pc:sldMkLst>
        <pc:spChg chg="mod">
          <ac:chgData name="faik bilgen" userId="9fcb1696e65a161f" providerId="LiveId" clId="{0C3A4C9E-717D-4ADE-97E0-B0AD580B3355}" dt="2026-01-06T16:48:34.383" v="120" actId="20577"/>
          <ac:spMkLst>
            <pc:docMk/>
            <pc:sldMk cId="1874607520" sldId="266"/>
            <ac:spMk id="2" creationId="{B393E277-BE1C-BA7B-FEEF-1E721434010D}"/>
          </ac:spMkLst>
        </pc:spChg>
        <pc:spChg chg="del">
          <ac:chgData name="faik bilgen" userId="9fcb1696e65a161f" providerId="LiveId" clId="{0C3A4C9E-717D-4ADE-97E0-B0AD580B3355}" dt="2026-01-06T16:46:18.035" v="26" actId="478"/>
          <ac:spMkLst>
            <pc:docMk/>
            <pc:sldMk cId="1874607520" sldId="266"/>
            <ac:spMk id="3" creationId="{044E4DA9-A1A5-7D1A-6C79-FA6BFE4CE747}"/>
          </ac:spMkLst>
        </pc:spChg>
        <pc:graphicFrameChg chg="add mod modGraphic">
          <ac:chgData name="faik bilgen" userId="9fcb1696e65a161f" providerId="LiveId" clId="{0C3A4C9E-717D-4ADE-97E0-B0AD580B3355}" dt="2026-01-07T06:25:41.831" v="157" actId="20577"/>
          <ac:graphicFrameMkLst>
            <pc:docMk/>
            <pc:sldMk cId="1874607520" sldId="266"/>
            <ac:graphicFrameMk id="4" creationId="{3FD693D8-43AF-01A9-189B-5F44377E34A0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7A376-8521-6577-2D07-990054A88E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01D1AD-C5AE-D5D5-8AEB-3CF00915DA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6218E4-0D79-BDF6-8381-F4230E4C1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68321-C9E7-441E-8ECB-F5B48CA38B30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E1445C-3C43-0979-3BC3-3C50A3764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8579E-F99E-72F7-92FC-E65D1F06D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04913-403C-4409-88C9-C8B79CC53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668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A3A46-966F-0889-0D6C-46EF223F7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90CF1-7AE8-CB01-72A6-3E5EC146CE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82178-CB10-3C0D-9F26-FF03AA7D1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68321-C9E7-441E-8ECB-F5B48CA38B30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06E56D-AAF0-53B1-2EB3-2B05DB7BE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8C5A6-8A41-BFE5-5181-AD86B0150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04913-403C-4409-88C9-C8B79CC53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320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74A1F-F392-185D-224B-A830DD235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E378F9-DE95-A055-2AC6-E7157142E7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63784-AC7B-9035-BD5F-CA457D8DE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68321-C9E7-441E-8ECB-F5B48CA38B30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E98C38-8659-E5D3-AA01-9DBE632E3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600AF-5C3D-1998-F8D6-2A1AD0195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04913-403C-4409-88C9-C8B79CC53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739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0FF7E-5293-08F1-D9A1-3A1680CEE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6F6F1-FDCC-6B3B-E060-DBA64E0B8A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695A3E-2804-E8CE-36A7-16F0D67A0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52C1A7-880C-CD35-6519-B44C1C001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68321-C9E7-441E-8ECB-F5B48CA38B30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87389A-7BA7-00F2-9F0C-3FF625C37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9FFEB-E07F-475A-DC43-D784B0493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04913-403C-4409-88C9-C8B79CC53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337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5AF15-66DF-0200-BF84-20E7FCAE1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1C9DF7-FFE2-ACA5-598F-2E8D05F024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81AC6B-6EB4-8880-6CF2-B757060F06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F57C6A-70C4-5D49-7AA6-6162923068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2BEDBF-9DCC-3C70-9011-CC3E8927C1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2DCA26-C658-60E2-1424-45272CAB1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68321-C9E7-441E-8ECB-F5B48CA38B30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DD7996-8661-7137-DBB1-48A6E8A73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E27E70-8897-E13C-10F1-24FFB6B1B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04913-403C-4409-88C9-C8B79CC53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129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E71C0-5D8F-1D28-606D-4024F95F3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450D43-A793-90E4-6A35-09A203BFF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68321-C9E7-441E-8ECB-F5B48CA38B30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D43902-4D2D-7893-9F50-76AD33027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0BBF6F-A580-C66C-7FD8-0CD657578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04913-403C-4409-88C9-C8B79CC53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479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9A4C65-793A-0452-3B22-EF9BAA6AB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68321-C9E7-441E-8ECB-F5B48CA38B30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B1979F-ACA8-3AB5-9C5B-FFA463C1D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B4F9D8-209E-4082-0939-7461D157A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04913-403C-4409-88C9-C8B79CC53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381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90A0C-21B5-5B1E-1A71-72C64E1C5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10992-4A91-CA9A-6790-69C97B74CF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D8F628-8009-4622-AD04-87974ADF90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9F7B8-21E1-FDBD-DF34-35B77CC99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68321-C9E7-441E-8ECB-F5B48CA38B30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8FEC55-0B6B-4ADF-137A-EDE9BBC3C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617AA9-A09D-95A1-845A-002841584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04913-403C-4409-88C9-C8B79CC53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643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1A1C2-1457-BA97-E02B-7478A5F75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5BB29C-956B-CB9A-82C7-D1A75368EA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1E78F4-29DC-15C6-EB91-0CB176A9FD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662D2E-911E-E254-4D20-F879D0105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68321-C9E7-441E-8ECB-F5B48CA38B30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272F32-771C-2443-DCDF-49353E280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3AD2F7-6465-65FF-9CBC-7F6BF4705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04913-403C-4409-88C9-C8B79CC53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270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23E70-A6AC-9EA6-A861-3E9FAA9E7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81546D-E49F-3CBD-23CB-6B06B2C4FF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91AD8-77DA-E023-CE62-8DB5F66E0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68321-C9E7-441E-8ECB-F5B48CA38B30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1C62C2-A50D-B686-F94E-63E71CD7A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FBBC1-AC3E-2F70-80F3-F31F052F8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04913-403C-4409-88C9-C8B79CC53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129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98C326-4850-1342-F77B-8A9CFA2B50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17BE1D-65FF-135C-6662-09A7BCF03C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94B37-9ED6-9087-1C2A-E654A453F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68321-C9E7-441E-8ECB-F5B48CA38B30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920E9-EEE5-167B-DD70-3972F6A3C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42915-24C5-13A7-5B23-4A192DA24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04913-403C-4409-88C9-C8B79CC53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285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10354D-51EE-E6D6-CC86-FEEF104B1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925FF8-2273-6FDB-FD37-C132E518F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2069AE-095C-7EFB-19E6-EB28335555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268321-C9E7-441E-8ECB-F5B48CA38B30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3A893-A31D-AEFC-084A-9F7122082C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753884-7504-3E14-2818-7885D95322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004913-403C-4409-88C9-C8B79CC53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485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kubernetes.io/docs/concepts/overview/working-with-objects/namespaces/#initial-namespaces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392AE-673E-92C5-303F-25E8450BD9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0EBB44-02B4-0E0C-DADA-EC740183DF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Faik Hakan Bilgen, </a:t>
            </a:r>
          </a:p>
          <a:p>
            <a:r>
              <a:rPr lang="en-US" dirty="0"/>
              <a:t>Sr. CSA, Microsoft</a:t>
            </a:r>
          </a:p>
        </p:txBody>
      </p:sp>
    </p:spTree>
    <p:extLst>
      <p:ext uri="{BB962C8B-B14F-4D97-AF65-F5344CB8AC3E}">
        <p14:creationId xmlns:p14="http://schemas.microsoft.com/office/powerpoint/2010/main" val="1785283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8" name="Freeform: Shape 27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9" name="Freeform: Shape 28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ABDE96-608C-110E-E9D1-C9B7D2B49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Introduction to AKS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9684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03C54-94F3-CD0A-69BC-C34C633AB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966" y="365125"/>
            <a:ext cx="10515600" cy="1325563"/>
          </a:xfrm>
        </p:spPr>
        <p:txBody>
          <a:bodyPr/>
          <a:lstStyle/>
          <a:p>
            <a:r>
              <a:rPr lang="en-US" dirty="0"/>
              <a:t>Azure Kubernetes Service (AKS)</a:t>
            </a:r>
          </a:p>
        </p:txBody>
      </p:sp>
      <p:pic>
        <p:nvPicPr>
          <p:cNvPr id="4" name="Picture 3" descr="AKS overview graphic">
            <a:extLst>
              <a:ext uri="{FF2B5EF4-FFF2-40B4-BE49-F238E27FC236}">
                <a16:creationId xmlns:a16="http://schemas.microsoft.com/office/drawing/2014/main" id="{943FE01B-8082-F704-5AE6-D2031BBC3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727" y="1570290"/>
            <a:ext cx="5442149" cy="36179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8F4CA8F-FF10-AEE3-BC3E-A64F90A2042F}"/>
              </a:ext>
            </a:extLst>
          </p:cNvPr>
          <p:cNvSpPr txBox="1"/>
          <p:nvPr/>
        </p:nvSpPr>
        <p:spPr>
          <a:xfrm>
            <a:off x="5932850" y="1690688"/>
            <a:ext cx="615313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/>
              <a:t>AKS reduces the complexity and operational overhead of managing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/>
              <a:t>Kubernetes by offloading much of that responsibility to Azure.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6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/>
              <a:t>Azure Kubernetes Service (AKS) is a managed Kubernetes service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/>
              <a:t>that you can use to deploy and manage  containerized applications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/>
              <a:t>that require high availability, scalability, and portability, and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/>
              <a:t>for deploying applications to multiple regions,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600" dirty="0"/>
              <a:t>using open-source tools and integrating with existing DevOps tools.</a:t>
            </a:r>
          </a:p>
        </p:txBody>
      </p:sp>
    </p:spTree>
    <p:extLst>
      <p:ext uri="{BB962C8B-B14F-4D97-AF65-F5344CB8AC3E}">
        <p14:creationId xmlns:p14="http://schemas.microsoft.com/office/powerpoint/2010/main" val="3834534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5B77F-8050-25C5-75A7-D5FCF5C31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 Solutions in Azure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3A0C392-C3D3-2A72-515E-9DE3E16198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0867315"/>
              </p:ext>
            </p:extLst>
          </p:nvPr>
        </p:nvGraphicFramePr>
        <p:xfrm>
          <a:off x="1025719" y="2043838"/>
          <a:ext cx="9507411" cy="2617470"/>
        </p:xfrm>
        <a:graphic>
          <a:graphicData uri="http://schemas.openxmlformats.org/drawingml/2006/table">
            <a:tbl>
              <a:tblPr/>
              <a:tblGrid>
                <a:gridCol w="4351592">
                  <a:extLst>
                    <a:ext uri="{9D8B030D-6E8A-4147-A177-3AD203B41FA5}">
                      <a16:colId xmlns:a16="http://schemas.microsoft.com/office/drawing/2014/main" val="1321913779"/>
                    </a:ext>
                  </a:extLst>
                </a:gridCol>
                <a:gridCol w="5155819">
                  <a:extLst>
                    <a:ext uri="{9D8B030D-6E8A-4147-A177-3AD203B41FA5}">
                      <a16:colId xmlns:a16="http://schemas.microsoft.com/office/drawing/2014/main" val="1008314529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Container solution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Resource type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830513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Azure Kubernetes Service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Managed Kubernetes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390807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Azure Red Hat OpenShift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Managed Kubernetes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756059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Azure Arc-enabled Kubernetes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Unmanaged Kubernetes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382126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Azure Container Instances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Managed Docker container instance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20285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Azure Container Apps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Managed Kubernetes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3392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8797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6E584-4808-01F1-775C-40CECB2E9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587" y="365125"/>
            <a:ext cx="10515600" cy="1325563"/>
          </a:xfrm>
        </p:spPr>
        <p:txBody>
          <a:bodyPr/>
          <a:lstStyle/>
          <a:p>
            <a:r>
              <a:rPr lang="en-US" dirty="0"/>
              <a:t>Use Cases for AKS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308570-471D-1B6E-AC13-C0EAB77B4E65}"/>
              </a:ext>
            </a:extLst>
          </p:cNvPr>
          <p:cNvSpPr txBox="1"/>
          <p:nvPr/>
        </p:nvSpPr>
        <p:spPr>
          <a:xfrm>
            <a:off x="694587" y="1506895"/>
            <a:ext cx="11675697" cy="49859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Lift and shift to containers with AKS</a:t>
            </a:r>
          </a:p>
          <a:p>
            <a:pPr>
              <a:spcAft>
                <a:spcPts val="600"/>
              </a:spcAft>
            </a:pPr>
            <a:r>
              <a:rPr lang="en-US" dirty="0"/>
              <a:t>Migrate existing applications to containers and run them in a fully managed Kubernetes environment.</a:t>
            </a:r>
          </a:p>
          <a:p>
            <a:r>
              <a:rPr lang="en-US" b="1" dirty="0"/>
              <a:t>Microservices with AKS</a:t>
            </a:r>
          </a:p>
          <a:p>
            <a:r>
              <a:rPr lang="en-US" dirty="0"/>
              <a:t>Simplify the deployment and management of microservices-based applications with streamlined horizontal scaling, </a:t>
            </a:r>
          </a:p>
          <a:p>
            <a:pPr>
              <a:spcAft>
                <a:spcPts val="600"/>
              </a:spcAft>
            </a:pPr>
            <a:r>
              <a:rPr lang="en-US" dirty="0"/>
              <a:t>self-healing, load balancing, and secret management.</a:t>
            </a:r>
          </a:p>
          <a:p>
            <a:r>
              <a:rPr lang="en-US" b="1" dirty="0"/>
              <a:t>Secure DevOps for AKS</a:t>
            </a:r>
          </a:p>
          <a:p>
            <a:pPr>
              <a:spcAft>
                <a:spcPts val="600"/>
              </a:spcAft>
            </a:pPr>
            <a:r>
              <a:rPr lang="en-US" dirty="0"/>
              <a:t>Efficiently balance speed and security by implementing secure DevOps with Kubernetes.</a:t>
            </a:r>
          </a:p>
          <a:p>
            <a:r>
              <a:rPr lang="en-US" b="1" dirty="0"/>
              <a:t>Bursting from AKS with ACI</a:t>
            </a:r>
          </a:p>
          <a:p>
            <a:pPr>
              <a:spcAft>
                <a:spcPts val="600"/>
              </a:spcAft>
            </a:pPr>
            <a:r>
              <a:rPr lang="en-US" dirty="0"/>
              <a:t>Use virtual nodes to provision pods inside ACI that start in seconds and scale to meet demand.</a:t>
            </a:r>
          </a:p>
          <a:p>
            <a:r>
              <a:rPr lang="en-US" b="1" dirty="0"/>
              <a:t>Machine learning model training with AKS</a:t>
            </a:r>
          </a:p>
          <a:p>
            <a:pPr>
              <a:spcAft>
                <a:spcPts val="600"/>
              </a:spcAft>
            </a:pPr>
            <a:r>
              <a:rPr lang="en-US" dirty="0"/>
              <a:t>Train models using large datasets with familiar tools, such as TensorFlow and Kubeflow.</a:t>
            </a:r>
          </a:p>
          <a:p>
            <a:r>
              <a:rPr lang="en-US" b="1" dirty="0"/>
              <a:t>Data streaming with AKS</a:t>
            </a:r>
          </a:p>
          <a:p>
            <a:r>
              <a:rPr lang="en-US" dirty="0"/>
              <a:t>Ingest and process real-time data streams with millions of data points collected via sensors, and </a:t>
            </a:r>
          </a:p>
          <a:p>
            <a:pPr>
              <a:spcAft>
                <a:spcPts val="600"/>
              </a:spcAft>
            </a:pPr>
            <a:r>
              <a:rPr lang="en-US" dirty="0"/>
              <a:t>perform fast analyses and computations to develop insights into complex scenarios.</a:t>
            </a:r>
          </a:p>
          <a:p>
            <a:r>
              <a:rPr lang="en-US" b="1" dirty="0"/>
              <a:t>Using Windows containers on AKS</a:t>
            </a:r>
          </a:p>
          <a:p>
            <a:r>
              <a:rPr lang="en-US" dirty="0"/>
              <a:t>Run Windows Server containers on AKS to modernize your Windows applications and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4035011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D5F3E-3274-A4EA-9184-A474AB901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492" y="178050"/>
            <a:ext cx="10515600" cy="1325563"/>
          </a:xfrm>
        </p:spPr>
        <p:txBody>
          <a:bodyPr/>
          <a:lstStyle/>
          <a:p>
            <a:r>
              <a:rPr lang="en-US" dirty="0"/>
              <a:t>Core AKS Concepts</a:t>
            </a:r>
          </a:p>
        </p:txBody>
      </p:sp>
      <p:pic>
        <p:nvPicPr>
          <p:cNvPr id="3" name="Picture 2" descr="Screenshot that shows Kubernetes control plane and node components.">
            <a:extLst>
              <a:ext uri="{FF2B5EF4-FFF2-40B4-BE49-F238E27FC236}">
                <a16:creationId xmlns:a16="http://schemas.microsoft.com/office/drawing/2014/main" id="{20A97B22-892C-F67C-F7CA-236A3374C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31" y="2588353"/>
            <a:ext cx="7354139" cy="2500483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CC0B21F-3F75-8318-D06A-8F7FA0E4EB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2808222"/>
              </p:ext>
            </p:extLst>
          </p:nvPr>
        </p:nvGraphicFramePr>
        <p:xfrm>
          <a:off x="109331" y="5419573"/>
          <a:ext cx="11979994" cy="11519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19222">
                  <a:extLst>
                    <a:ext uri="{9D8B030D-6E8A-4147-A177-3AD203B41FA5}">
                      <a16:colId xmlns:a16="http://schemas.microsoft.com/office/drawing/2014/main" val="485223955"/>
                    </a:ext>
                  </a:extLst>
                </a:gridCol>
                <a:gridCol w="10160772">
                  <a:extLst>
                    <a:ext uri="{9D8B030D-6E8A-4147-A177-3AD203B41FA5}">
                      <a16:colId xmlns:a16="http://schemas.microsoft.com/office/drawing/2014/main" val="151661831"/>
                    </a:ext>
                  </a:extLst>
                </a:gridCol>
              </a:tblGrid>
              <a:tr h="1823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</a:rPr>
                        <a:t>Component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18" marR="9118" marT="91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Description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18" marR="9118" marT="9118" marB="0" anchor="b"/>
                </a:tc>
                <a:extLst>
                  <a:ext uri="{0D108BD9-81ED-4DB2-BD59-A6C34878D82A}">
                    <a16:rowId xmlns:a16="http://schemas.microsoft.com/office/drawing/2014/main" val="1867125782"/>
                  </a:ext>
                </a:extLst>
              </a:tr>
              <a:tr h="1823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 err="1">
                          <a:effectLst/>
                        </a:rPr>
                        <a:t>kube-apiserver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18" marR="9118" marT="91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The API server (</a:t>
                      </a:r>
                      <a:r>
                        <a:rPr lang="en-US" sz="1200" u="none" strike="noStrike" dirty="0" err="1">
                          <a:effectLst/>
                        </a:rPr>
                        <a:t>kube-apiserver</a:t>
                      </a:r>
                      <a:r>
                        <a:rPr lang="en-US" sz="1200" u="none" strike="noStrike" dirty="0">
                          <a:effectLst/>
                        </a:rPr>
                        <a:t>) exposes the Kubernetes API to enable requests to the cluster from inside and outside of the cluster.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18" marR="9118" marT="9118" marB="0" anchor="b"/>
                </a:tc>
                <a:extLst>
                  <a:ext uri="{0D108BD9-81ED-4DB2-BD59-A6C34878D82A}">
                    <a16:rowId xmlns:a16="http://schemas.microsoft.com/office/drawing/2014/main" val="389410587"/>
                  </a:ext>
                </a:extLst>
              </a:tr>
              <a:tr h="1823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 err="1">
                          <a:effectLst/>
                        </a:rPr>
                        <a:t>etcd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18" marR="9118" marT="91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The highly available key-value store </a:t>
                      </a:r>
                      <a:r>
                        <a:rPr lang="en-US" sz="1200" u="none" strike="noStrike" dirty="0" err="1">
                          <a:effectLst/>
                        </a:rPr>
                        <a:t>etcd</a:t>
                      </a:r>
                      <a:r>
                        <a:rPr lang="en-US" sz="1200" u="none" strike="noStrike" dirty="0">
                          <a:effectLst/>
                        </a:rPr>
                        <a:t> helps to maintain the state of your Kubernetes cluster and configuration.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18" marR="9118" marT="9118" marB="0" anchor="b"/>
                </a:tc>
                <a:extLst>
                  <a:ext uri="{0D108BD9-81ED-4DB2-BD59-A6C34878D82A}">
                    <a16:rowId xmlns:a16="http://schemas.microsoft.com/office/drawing/2014/main" val="3302582193"/>
                  </a:ext>
                </a:extLst>
              </a:tr>
              <a:tr h="1823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 err="1">
                          <a:effectLst/>
                        </a:rPr>
                        <a:t>kube</a:t>
                      </a:r>
                      <a:r>
                        <a:rPr lang="en-US" sz="1200" u="none" strike="noStrike" dirty="0">
                          <a:effectLst/>
                        </a:rPr>
                        <a:t>-scheduler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18" marR="9118" marT="91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The scheduler (</a:t>
                      </a:r>
                      <a:r>
                        <a:rPr lang="en-US" sz="1200" u="none" strike="noStrike" dirty="0" err="1">
                          <a:effectLst/>
                        </a:rPr>
                        <a:t>kube</a:t>
                      </a:r>
                      <a:r>
                        <a:rPr lang="en-US" sz="1200" u="none" strike="noStrike" dirty="0">
                          <a:effectLst/>
                        </a:rPr>
                        <a:t>-scheduler) helps to make scheduling decisions. It watches for new pods with no assigned node and selects a node for them to run on.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18" marR="9118" marT="9118" marB="0" anchor="b"/>
                </a:tc>
                <a:extLst>
                  <a:ext uri="{0D108BD9-81ED-4DB2-BD59-A6C34878D82A}">
                    <a16:rowId xmlns:a16="http://schemas.microsoft.com/office/drawing/2014/main" val="1708439964"/>
                  </a:ext>
                </a:extLst>
              </a:tr>
              <a:tr h="1823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 err="1">
                          <a:effectLst/>
                        </a:rPr>
                        <a:t>kube</a:t>
                      </a:r>
                      <a:r>
                        <a:rPr lang="en-US" sz="1200" u="none" strike="noStrike" dirty="0">
                          <a:effectLst/>
                        </a:rPr>
                        <a:t>-controller-manager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18" marR="9118" marT="91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The controller manager (</a:t>
                      </a:r>
                      <a:r>
                        <a:rPr lang="en-US" sz="1200" u="none" strike="noStrike" dirty="0" err="1">
                          <a:effectLst/>
                        </a:rPr>
                        <a:t>kube</a:t>
                      </a:r>
                      <a:r>
                        <a:rPr lang="en-US" sz="1200" u="none" strike="noStrike" dirty="0">
                          <a:effectLst/>
                        </a:rPr>
                        <a:t>-controller-manager) runs controller processes, such as noticing and responding when nodes go down.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18" marR="9118" marT="9118" marB="0" anchor="b"/>
                </a:tc>
                <a:extLst>
                  <a:ext uri="{0D108BD9-81ED-4DB2-BD59-A6C34878D82A}">
                    <a16:rowId xmlns:a16="http://schemas.microsoft.com/office/drawing/2014/main" val="3700435068"/>
                  </a:ext>
                </a:extLst>
              </a:tr>
              <a:tr h="1823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cloud-controller-manager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18" marR="9118" marT="91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The cloud controller manager (cloud-controller-manager) embeds cloud-specific control logic to run controllers specific to the cloud provider.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18" marR="9118" marT="9118" marB="0" anchor="b"/>
                </a:tc>
                <a:extLst>
                  <a:ext uri="{0D108BD9-81ED-4DB2-BD59-A6C34878D82A}">
                    <a16:rowId xmlns:a16="http://schemas.microsoft.com/office/drawing/2014/main" val="284227319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DB5596D-B5EB-4F51-B104-1E68501723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1166683"/>
              </p:ext>
            </p:extLst>
          </p:nvPr>
        </p:nvGraphicFramePr>
        <p:xfrm>
          <a:off x="3786400" y="1485433"/>
          <a:ext cx="6142791" cy="7294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60190">
                  <a:extLst>
                    <a:ext uri="{9D8B030D-6E8A-4147-A177-3AD203B41FA5}">
                      <a16:colId xmlns:a16="http://schemas.microsoft.com/office/drawing/2014/main" val="2270962505"/>
                    </a:ext>
                  </a:extLst>
                </a:gridCol>
                <a:gridCol w="4782601">
                  <a:extLst>
                    <a:ext uri="{9D8B030D-6E8A-4147-A177-3AD203B41FA5}">
                      <a16:colId xmlns:a16="http://schemas.microsoft.com/office/drawing/2014/main" val="2286568558"/>
                    </a:ext>
                  </a:extLst>
                </a:gridCol>
              </a:tblGrid>
              <a:tr h="1823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u="none" strike="noStrike" dirty="0">
                          <a:effectLst/>
                        </a:rPr>
                        <a:t>Component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18" marR="9118" marT="91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1" u="none" strike="noStrike" dirty="0">
                          <a:effectLst/>
                        </a:rPr>
                        <a:t>Description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18" marR="9118" marT="9118" marB="0" anchor="b"/>
                </a:tc>
                <a:extLst>
                  <a:ext uri="{0D108BD9-81ED-4DB2-BD59-A6C34878D82A}">
                    <a16:rowId xmlns:a16="http://schemas.microsoft.com/office/drawing/2014/main" val="3148962137"/>
                  </a:ext>
                </a:extLst>
              </a:tr>
              <a:tr h="1823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 err="1">
                          <a:effectLst/>
                        </a:rPr>
                        <a:t>kubelet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18" marR="9118" marT="91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The </a:t>
                      </a:r>
                      <a:r>
                        <a:rPr lang="en-US" sz="1100" u="none" strike="noStrike" dirty="0" err="1">
                          <a:effectLst/>
                        </a:rPr>
                        <a:t>kubelet</a:t>
                      </a:r>
                      <a:r>
                        <a:rPr lang="en-US" sz="1100" u="none" strike="noStrike" dirty="0">
                          <a:effectLst/>
                        </a:rPr>
                        <a:t> ensures that containers are running in a pod.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18" marR="9118" marT="9118" marB="0" anchor="b"/>
                </a:tc>
                <a:extLst>
                  <a:ext uri="{0D108BD9-81ED-4DB2-BD59-A6C34878D82A}">
                    <a16:rowId xmlns:a16="http://schemas.microsoft.com/office/drawing/2014/main" val="1453412865"/>
                  </a:ext>
                </a:extLst>
              </a:tr>
              <a:tr h="1823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 err="1">
                          <a:effectLst/>
                        </a:rPr>
                        <a:t>kube</a:t>
                      </a:r>
                      <a:r>
                        <a:rPr lang="en-US" sz="1100" u="none" strike="noStrike" dirty="0">
                          <a:effectLst/>
                        </a:rPr>
                        <a:t>-proxy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18" marR="9118" marT="91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The </a:t>
                      </a:r>
                      <a:r>
                        <a:rPr lang="en-US" sz="1100" u="none" strike="noStrike" dirty="0" err="1">
                          <a:effectLst/>
                        </a:rPr>
                        <a:t>kube</a:t>
                      </a:r>
                      <a:r>
                        <a:rPr lang="en-US" sz="1100" u="none" strike="noStrike" dirty="0">
                          <a:effectLst/>
                        </a:rPr>
                        <a:t>-proxy is a network proxy that maintains network rules on nodes.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18" marR="9118" marT="9118" marB="0" anchor="b"/>
                </a:tc>
                <a:extLst>
                  <a:ext uri="{0D108BD9-81ED-4DB2-BD59-A6C34878D82A}">
                    <a16:rowId xmlns:a16="http://schemas.microsoft.com/office/drawing/2014/main" val="4093343171"/>
                  </a:ext>
                </a:extLst>
              </a:tr>
              <a:tr h="1823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container runtime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18" marR="9118" marT="911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The container runtime manages the execution and lifecycle of containers.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18" marR="9118" marT="9118" marB="0" anchor="b"/>
                </a:tc>
                <a:extLst>
                  <a:ext uri="{0D108BD9-81ED-4DB2-BD59-A6C34878D82A}">
                    <a16:rowId xmlns:a16="http://schemas.microsoft.com/office/drawing/2014/main" val="38551809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0168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45A25-5BD5-5C37-486F-EBC4ED6DB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459FE-BEE7-ADAC-2F0C-F8F045ED3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492" y="178050"/>
            <a:ext cx="10515600" cy="1325563"/>
          </a:xfrm>
        </p:spPr>
        <p:txBody>
          <a:bodyPr/>
          <a:lstStyle/>
          <a:p>
            <a:r>
              <a:rPr lang="en-US" dirty="0"/>
              <a:t>Core AKS Concepts</a:t>
            </a:r>
          </a:p>
        </p:txBody>
      </p:sp>
      <p:pic>
        <p:nvPicPr>
          <p:cNvPr id="6" name="Picture 5" descr="Screenshot that shows Azure virtual machine and supporting resources for a Kubernetes node.">
            <a:extLst>
              <a:ext uri="{FF2B5EF4-FFF2-40B4-BE49-F238E27FC236}">
                <a16:creationId xmlns:a16="http://schemas.microsoft.com/office/drawing/2014/main" id="{E98C48E4-C6B7-5FFE-60AF-6BF91DD0D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005" y="2030387"/>
            <a:ext cx="6971484" cy="258137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2B406BB-5A07-630E-07AF-5332BABEBC3D}"/>
              </a:ext>
            </a:extLst>
          </p:cNvPr>
          <p:cNvSpPr txBox="1"/>
          <p:nvPr/>
        </p:nvSpPr>
        <p:spPr>
          <a:xfrm>
            <a:off x="8647043" y="2303433"/>
            <a:ext cx="269573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VM size and image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OS disks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Resource reservations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Container runtime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Node pools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Node resource group</a:t>
            </a:r>
          </a:p>
        </p:txBody>
      </p:sp>
    </p:spTree>
    <p:extLst>
      <p:ext uri="{BB962C8B-B14F-4D97-AF65-F5344CB8AC3E}">
        <p14:creationId xmlns:p14="http://schemas.microsoft.com/office/powerpoint/2010/main" val="1715846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48DF1-9D1E-CA48-E822-4EA053E30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AA174-CE76-67FD-9BE7-BA259A053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492" y="178050"/>
            <a:ext cx="10515600" cy="1325563"/>
          </a:xfrm>
        </p:spPr>
        <p:txBody>
          <a:bodyPr/>
          <a:lstStyle/>
          <a:p>
            <a:r>
              <a:rPr lang="en-US" dirty="0"/>
              <a:t>Core AKS Concepts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22E0BD8-4377-0EA0-B4F5-C4AAA074CA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3760380"/>
              </p:ext>
            </p:extLst>
          </p:nvPr>
        </p:nvGraphicFramePr>
        <p:xfrm>
          <a:off x="5793840" y="1503614"/>
          <a:ext cx="5944273" cy="3603651"/>
        </p:xfrm>
        <a:graphic>
          <a:graphicData uri="http://schemas.openxmlformats.org/drawingml/2006/table">
            <a:tbl>
              <a:tblPr/>
              <a:tblGrid>
                <a:gridCol w="1284760">
                  <a:extLst>
                    <a:ext uri="{9D8B030D-6E8A-4147-A177-3AD203B41FA5}">
                      <a16:colId xmlns:a16="http://schemas.microsoft.com/office/drawing/2014/main" val="24335307"/>
                    </a:ext>
                  </a:extLst>
                </a:gridCol>
                <a:gridCol w="4659513">
                  <a:extLst>
                    <a:ext uri="{9D8B030D-6E8A-4147-A177-3AD203B41FA5}">
                      <a16:colId xmlns:a16="http://schemas.microsoft.com/office/drawing/2014/main" val="1815111238"/>
                    </a:ext>
                  </a:extLst>
                </a:gridCol>
              </a:tblGrid>
              <a:tr h="21386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b="1" dirty="0">
                          <a:effectLst/>
                        </a:rPr>
                        <a:t>Namespace</a:t>
                      </a:r>
                    </a:p>
                  </a:txBody>
                  <a:tcPr marL="63990" marR="63990" marT="31995" marB="31995">
                    <a:lnL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b="1" dirty="0">
                          <a:effectLst/>
                        </a:rPr>
                        <a:t>Description</a:t>
                      </a:r>
                    </a:p>
                  </a:txBody>
                  <a:tcPr marL="63990" marR="63990" marT="31995" marB="31995">
                    <a:lnL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6264825"/>
                  </a:ext>
                </a:extLst>
              </a:tr>
              <a:tr h="52211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dirty="0">
                          <a:effectLst/>
                          <a:latin typeface="SFMono-Regular"/>
                        </a:rPr>
                        <a:t>default</a:t>
                      </a:r>
                      <a:endParaRPr lang="en-US" sz="1300" dirty="0">
                        <a:effectLst/>
                      </a:endParaRPr>
                    </a:p>
                  </a:txBody>
                  <a:tcPr marL="63990" marR="63990" marT="31995" marB="31995">
                    <a:lnL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dirty="0">
                          <a:effectLst/>
                        </a:rPr>
                        <a:t>The </a:t>
                      </a:r>
                      <a:r>
                        <a:rPr lang="en-US" sz="13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default</a:t>
                      </a:r>
                      <a:r>
                        <a:rPr lang="en-US" sz="13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300" dirty="0">
                          <a:effectLst/>
                        </a:rPr>
                        <a:t>namespace allows you to start using cluster resources without creating a new namespace.</a:t>
                      </a:r>
                    </a:p>
                  </a:txBody>
                  <a:tcPr marL="63990" marR="63990" marT="31995" marB="31995">
                    <a:lnL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8108672"/>
                  </a:ext>
                </a:extLst>
              </a:tr>
              <a:tr h="52211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dirty="0" err="1">
                          <a:effectLst/>
                          <a:latin typeface="SFMono-Regular"/>
                        </a:rPr>
                        <a:t>kube</a:t>
                      </a:r>
                      <a:r>
                        <a:rPr lang="en-US" sz="1300" dirty="0">
                          <a:effectLst/>
                          <a:latin typeface="SFMono-Regular"/>
                        </a:rPr>
                        <a:t>-node-lease</a:t>
                      </a:r>
                      <a:endParaRPr lang="en-US" sz="1300" dirty="0">
                        <a:effectLst/>
                      </a:endParaRPr>
                    </a:p>
                  </a:txBody>
                  <a:tcPr marL="63990" marR="63990" marT="31995" marB="31995">
                    <a:lnL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dirty="0">
                          <a:effectLst/>
                        </a:rPr>
                        <a:t>The</a:t>
                      </a:r>
                      <a:r>
                        <a:rPr lang="en-US" sz="13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3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kube</a:t>
                      </a:r>
                      <a:r>
                        <a:rPr lang="en-US" sz="13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-node-lease</a:t>
                      </a:r>
                      <a:r>
                        <a:rPr lang="en-US" sz="13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300" dirty="0">
                          <a:effectLst/>
                        </a:rPr>
                        <a:t>namespace enables nodes to communicate their availability to the control plane.</a:t>
                      </a:r>
                    </a:p>
                  </a:txBody>
                  <a:tcPr marL="63990" marR="63990" marT="31995" marB="31995">
                    <a:lnL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6400437"/>
                  </a:ext>
                </a:extLst>
              </a:tr>
              <a:tr h="67875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effectLst/>
                          <a:latin typeface="SFMono-Regular"/>
                        </a:rPr>
                        <a:t>kube-public</a:t>
                      </a:r>
                      <a:endParaRPr lang="en-US" sz="1300">
                        <a:effectLst/>
                      </a:endParaRPr>
                    </a:p>
                  </a:txBody>
                  <a:tcPr marL="63990" marR="63990" marT="31995" marB="31995">
                    <a:lnL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dirty="0">
                          <a:effectLst/>
                        </a:rPr>
                        <a:t>The</a:t>
                      </a:r>
                      <a:r>
                        <a:rPr lang="en-US" sz="13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3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kube</a:t>
                      </a:r>
                      <a:r>
                        <a:rPr lang="en-US" sz="13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-public</a:t>
                      </a:r>
                      <a:r>
                        <a:rPr lang="en-US" sz="13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300" dirty="0">
                          <a:effectLst/>
                        </a:rPr>
                        <a:t>namespace isn't typically used, but you can use it so that resources are visible across the whole cluster by any user.</a:t>
                      </a:r>
                    </a:p>
                  </a:txBody>
                  <a:tcPr marL="63990" marR="63990" marT="31995" marB="31995">
                    <a:lnL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4192066"/>
                  </a:ext>
                </a:extLst>
              </a:tr>
              <a:tr h="161855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dirty="0" err="1">
                          <a:effectLst/>
                          <a:latin typeface="SFMono-Regular"/>
                        </a:rPr>
                        <a:t>kube</a:t>
                      </a:r>
                      <a:r>
                        <a:rPr lang="en-US" sz="1300" dirty="0">
                          <a:effectLst/>
                          <a:latin typeface="SFMono-Regular"/>
                        </a:rPr>
                        <a:t>-system</a:t>
                      </a:r>
                      <a:endParaRPr lang="en-US" sz="1300" dirty="0">
                        <a:effectLst/>
                      </a:endParaRPr>
                    </a:p>
                  </a:txBody>
                  <a:tcPr marL="63990" marR="63990" marT="31995" marB="31995">
                    <a:lnL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dirty="0">
                          <a:effectLst/>
                        </a:rPr>
                        <a:t>The</a:t>
                      </a:r>
                      <a:r>
                        <a:rPr lang="en-US" sz="13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3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kube</a:t>
                      </a:r>
                      <a:r>
                        <a:rPr lang="en-US" sz="13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-system</a:t>
                      </a:r>
                      <a:r>
                        <a:rPr lang="en-US" sz="13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300" dirty="0">
                          <a:effectLst/>
                        </a:rPr>
                        <a:t>namespace is used by Kubernetes to manage cluster resources, such as </a:t>
                      </a:r>
                      <a:r>
                        <a:rPr lang="en-US" sz="1300" dirty="0" err="1">
                          <a:effectLst/>
                          <a:latin typeface="SFMono-Regular"/>
                        </a:rPr>
                        <a:t>coredns</a:t>
                      </a:r>
                      <a:r>
                        <a:rPr lang="en-US" sz="1300" dirty="0">
                          <a:effectLst/>
                        </a:rPr>
                        <a:t>, </a:t>
                      </a:r>
                      <a:r>
                        <a:rPr lang="en-US" sz="1300" dirty="0" err="1">
                          <a:effectLst/>
                          <a:latin typeface="SFMono-Regular"/>
                        </a:rPr>
                        <a:t>konnectivity</a:t>
                      </a:r>
                      <a:r>
                        <a:rPr lang="en-US" sz="1300" dirty="0">
                          <a:effectLst/>
                          <a:latin typeface="SFMono-Regular"/>
                        </a:rPr>
                        <a:t>-agent</a:t>
                      </a:r>
                      <a:r>
                        <a:rPr lang="en-US" sz="1300" dirty="0">
                          <a:effectLst/>
                        </a:rPr>
                        <a:t>, and </a:t>
                      </a:r>
                      <a:r>
                        <a:rPr lang="en-US" sz="1300" dirty="0">
                          <a:effectLst/>
                          <a:latin typeface="SFMono-Regular"/>
                        </a:rPr>
                        <a:t>metrics-server</a:t>
                      </a:r>
                      <a:r>
                        <a:rPr lang="en-US" sz="1300" dirty="0">
                          <a:effectLst/>
                        </a:rPr>
                        <a:t>. It is not recommended to deploy your own applications to this namespace. </a:t>
                      </a:r>
                    </a:p>
                  </a:txBody>
                  <a:tcPr marL="63990" marR="63990" marT="31995" marB="31995">
                    <a:lnL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82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493231"/>
                  </a:ext>
                </a:extLst>
              </a:tr>
            </a:tbl>
          </a:graphicData>
        </a:graphic>
      </p:graphicFrame>
      <p:pic>
        <p:nvPicPr>
          <p:cNvPr id="4" name="Picture 3" descr="Screenshot that shows Kubernetes namespaces to logically divide resources and applications.">
            <a:extLst>
              <a:ext uri="{FF2B5EF4-FFF2-40B4-BE49-F238E27FC236}">
                <a16:creationId xmlns:a16="http://schemas.microsoft.com/office/drawing/2014/main" id="{0DA98881-624A-66E5-F61B-9DADC7570D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459" y="1503613"/>
            <a:ext cx="4678163" cy="3555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814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BE0B89-E77A-F662-6D28-4839F54E2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Setting up an AKS Cluster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6261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3E277-BE1C-BA7B-FEEF-1E721434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 an AKS Cluster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FD693D8-43AF-01A9-189B-5F44377E34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8052675"/>
              </p:ext>
            </p:extLst>
          </p:nvPr>
        </p:nvGraphicFramePr>
        <p:xfrm>
          <a:off x="968512" y="1760261"/>
          <a:ext cx="5541616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0808">
                  <a:extLst>
                    <a:ext uri="{9D8B030D-6E8A-4147-A177-3AD203B41FA5}">
                      <a16:colId xmlns:a16="http://schemas.microsoft.com/office/drawing/2014/main" val="883490984"/>
                    </a:ext>
                  </a:extLst>
                </a:gridCol>
                <a:gridCol w="2770808">
                  <a:extLst>
                    <a:ext uri="{9D8B030D-6E8A-4147-A177-3AD203B41FA5}">
                      <a16:colId xmlns:a16="http://schemas.microsoft.com/office/drawing/2014/main" val="22034277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Method of set 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Setup Guidance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6248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Via Azure Portal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1746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Using Azure CLI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8087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Using Bicep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503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Using Terraform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31697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4607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1133</TotalTime>
  <Words>591</Words>
  <Application>Microsoft Office PowerPoint</Application>
  <PresentationFormat>Widescreen</PresentationFormat>
  <Paragraphs>92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Aptos Narrow</vt:lpstr>
      <vt:lpstr>Arial</vt:lpstr>
      <vt:lpstr>Calibri</vt:lpstr>
      <vt:lpstr>SFMono-Regular</vt:lpstr>
      <vt:lpstr>Office Theme</vt:lpstr>
      <vt:lpstr>AKS</vt:lpstr>
      <vt:lpstr>Introduction to AKS</vt:lpstr>
      <vt:lpstr>Azure Kubernetes Service (AKS)</vt:lpstr>
      <vt:lpstr>Container Solutions in Azure</vt:lpstr>
      <vt:lpstr>Use Cases for AKS</vt:lpstr>
      <vt:lpstr>Core AKS Concepts</vt:lpstr>
      <vt:lpstr>Core AKS Concepts</vt:lpstr>
      <vt:lpstr>Core AKS Concepts</vt:lpstr>
      <vt:lpstr>Setting up an AKS Cluster</vt:lpstr>
      <vt:lpstr>Setup an AKS Cluster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Faik Hakan Bilgen</dc:creator>
  <cp:lastModifiedBy>Faik Hakan Bilgen</cp:lastModifiedBy>
  <cp:revision>17</cp:revision>
  <dcterms:created xsi:type="dcterms:W3CDTF">2026-01-06T09:30:25Z</dcterms:created>
  <dcterms:modified xsi:type="dcterms:W3CDTF">2026-01-07T06:25:43Z</dcterms:modified>
</cp:coreProperties>
</file>