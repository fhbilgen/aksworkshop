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5" r:id="rId4"/>
    <p:sldId id="260" r:id="rId5"/>
    <p:sldId id="262" r:id="rId6"/>
    <p:sldId id="263" r:id="rId7"/>
    <p:sldId id="257" r:id="rId8"/>
    <p:sldId id="258" r:id="rId9"/>
    <p:sldId id="259" r:id="rId10"/>
    <p:sldId id="264" r:id="rId11"/>
    <p:sldId id="266" r:id="rId12"/>
    <p:sldId id="279" r:id="rId13"/>
    <p:sldId id="280" r:id="rId14"/>
    <p:sldId id="281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BB7F4B-7A2D-400A-BF41-C6DFD8417B3B}" v="4" dt="2026-01-16T08:41:10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k bilgen" userId="9fcb1696e65a161f" providerId="LiveId" clId="{0C3A4C9E-717D-4ADE-97E0-B0AD580B3355}"/>
    <pc:docChg chg="addSld modSld">
      <pc:chgData name="faik bilgen" userId="9fcb1696e65a161f" providerId="LiveId" clId="{0C3A4C9E-717D-4ADE-97E0-B0AD580B3355}" dt="2026-01-16T08:41:16.293" v="71" actId="20577"/>
      <pc:docMkLst>
        <pc:docMk/>
      </pc:docMkLst>
      <pc:sldChg chg="modSp add mod">
        <pc:chgData name="faik bilgen" userId="9fcb1696e65a161f" providerId="LiveId" clId="{0C3A4C9E-717D-4ADE-97E0-B0AD580B3355}" dt="2026-01-16T08:40:18.944" v="26" actId="20577"/>
        <pc:sldMkLst>
          <pc:docMk/>
          <pc:sldMk cId="2540744057" sldId="279"/>
        </pc:sldMkLst>
        <pc:spChg chg="mod">
          <ac:chgData name="faik bilgen" userId="9fcb1696e65a161f" providerId="LiveId" clId="{0C3A4C9E-717D-4ADE-97E0-B0AD580B3355}" dt="2026-01-16T08:40:18.944" v="26" actId="20577"/>
          <ac:spMkLst>
            <pc:docMk/>
            <pc:sldMk cId="2540744057" sldId="279"/>
            <ac:spMk id="3" creationId="{ABE0EBD9-543C-DF01-01FB-128713202535}"/>
          </ac:spMkLst>
        </pc:spChg>
      </pc:sldChg>
      <pc:sldChg chg="modSp add mod">
        <pc:chgData name="faik bilgen" userId="9fcb1696e65a161f" providerId="LiveId" clId="{0C3A4C9E-717D-4ADE-97E0-B0AD580B3355}" dt="2026-01-16T08:40:46.058" v="46" actId="20577"/>
        <pc:sldMkLst>
          <pc:docMk/>
          <pc:sldMk cId="327185294" sldId="280"/>
        </pc:sldMkLst>
        <pc:spChg chg="mod">
          <ac:chgData name="faik bilgen" userId="9fcb1696e65a161f" providerId="LiveId" clId="{0C3A4C9E-717D-4ADE-97E0-B0AD580B3355}" dt="2026-01-16T08:40:46.058" v="46" actId="20577"/>
          <ac:spMkLst>
            <pc:docMk/>
            <pc:sldMk cId="327185294" sldId="280"/>
            <ac:spMk id="3" creationId="{35C14E64-C23E-2075-52F8-52D570FF7C2D}"/>
          </ac:spMkLst>
        </pc:spChg>
      </pc:sldChg>
      <pc:sldChg chg="modSp add mod">
        <pc:chgData name="faik bilgen" userId="9fcb1696e65a161f" providerId="LiveId" clId="{0C3A4C9E-717D-4ADE-97E0-B0AD580B3355}" dt="2026-01-16T08:41:05.460" v="61" actId="20577"/>
        <pc:sldMkLst>
          <pc:docMk/>
          <pc:sldMk cId="3388868937" sldId="281"/>
        </pc:sldMkLst>
        <pc:spChg chg="mod">
          <ac:chgData name="faik bilgen" userId="9fcb1696e65a161f" providerId="LiveId" clId="{0C3A4C9E-717D-4ADE-97E0-B0AD580B3355}" dt="2026-01-16T08:41:05.460" v="61" actId="20577"/>
          <ac:spMkLst>
            <pc:docMk/>
            <pc:sldMk cId="3388868937" sldId="281"/>
            <ac:spMk id="3" creationId="{5C2E0EC7-9B64-8CAC-6EF7-261DF94CD8FD}"/>
          </ac:spMkLst>
        </pc:spChg>
      </pc:sldChg>
      <pc:sldChg chg="modSp add mod">
        <pc:chgData name="faik bilgen" userId="9fcb1696e65a161f" providerId="LiveId" clId="{0C3A4C9E-717D-4ADE-97E0-B0AD580B3355}" dt="2026-01-16T08:41:16.293" v="71" actId="20577"/>
        <pc:sldMkLst>
          <pc:docMk/>
          <pc:sldMk cId="2211351908" sldId="282"/>
        </pc:sldMkLst>
        <pc:spChg chg="mod">
          <ac:chgData name="faik bilgen" userId="9fcb1696e65a161f" providerId="LiveId" clId="{0C3A4C9E-717D-4ADE-97E0-B0AD580B3355}" dt="2026-01-16T08:41:16.293" v="71" actId="20577"/>
          <ac:spMkLst>
            <pc:docMk/>
            <pc:sldMk cId="2211351908" sldId="282"/>
            <ac:spMk id="3" creationId="{B94CDEF3-531D-2475-F07C-AF3B9C03C63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6A34B-86C2-4B9A-E049-A7999696B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2A1E0-77B8-6EC6-6E0C-9BBF3BF23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B94E-F250-D327-1EE5-0085397A3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CDE8-C118-489E-BA54-73CDE3A64F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5A3B3-8604-CD23-DA2D-DC3011175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B24D3-307C-9F93-624A-33DC8F55B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98DA-CE84-47F3-84A9-71F6FE96E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06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03DEA-F352-7B57-704D-A61BFE9FD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AF24F-A7C5-8EB2-B033-E1D3DF75B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18354-1D84-3D8F-6D6C-1CD623E6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CDE8-C118-489E-BA54-73CDE3A64F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AF227-ED5D-CCD8-63DA-0B6A2769E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476D9-CAAE-28DA-65BC-6EE0F7667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98DA-CE84-47F3-84A9-71F6FE96E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64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A5AB3-9003-7EBF-20A1-8DB2F0074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7F891-5625-7F4D-E283-05924EBAF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84EBC-964C-613A-584C-BEDBE0DD7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CDE8-C118-489E-BA54-73CDE3A64F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40452-00F4-4CB1-BC44-FCB83C1EF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3992D-65CB-3BE4-7968-899BA2D26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98DA-CE84-47F3-84A9-71F6FE96E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0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AE6E7-AA00-71A9-81B0-9555C7025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88D0F-7C67-32FC-A6B7-A2A41BDE4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04619-74BA-B8CB-310A-49FC55DAA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096F6-EE6A-CE1F-901B-67D80AD30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CDE8-C118-489E-BA54-73CDE3A64F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9C370-7116-4B19-F5C1-607749087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6AB62-152A-FC09-9743-E156C7FA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98DA-CE84-47F3-84A9-71F6FE96E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31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B3031-7FCF-143D-A9D6-6121E5EAD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FBCFE-6C36-D17B-F9F9-8E3AC1646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B7D24-899C-1692-835A-2FBF6F9BA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D9385-099B-594D-214D-C5BDFD4D1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35A9F3-1C61-C023-A7EC-1001809B9E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01E915-0AE5-6F72-9D35-8B99DD40D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CDE8-C118-489E-BA54-73CDE3A64F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CD64AF-B2AE-13BA-8854-9346BA3BF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03D030-EE0C-A44F-6916-C1BE5089C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98DA-CE84-47F3-84A9-71F6FE96E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3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A26D9-7043-2A71-65BC-E123263E1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F05A6B-D131-9EAD-5387-C8DFB094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CDE8-C118-489E-BA54-73CDE3A64F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FA88BA-FAE7-1B6C-8C58-7099F93B0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57743-F2E8-AA2A-17CC-01D9D288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98DA-CE84-47F3-84A9-71F6FE96E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1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32D2D3-7F1B-ED8A-95D6-09620436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CDE8-C118-489E-BA54-73CDE3A64F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DD624C-87E5-F6B8-F0F3-B95EDF5DD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985AD-E600-401B-F193-BBF752E64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98DA-CE84-47F3-84A9-71F6FE96E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14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3698-550D-B7B0-C20C-3C6AD31BC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968E9-9927-700C-18A6-AA6F2AECD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97E32C-57E1-369E-1E9E-EB30847A9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FE8C3-FE13-57C6-5BD1-4EB2E6761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CDE8-C118-489E-BA54-73CDE3A64F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25CB4-32D0-4DFD-923A-8D9041AE8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FA81E-A165-4992-F19D-51C49CA45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98DA-CE84-47F3-84A9-71F6FE96E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852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EC69-D289-4044-17F8-2BEA2B6FA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0EFB0A-51FA-9350-9943-9E672664F6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9BFCA-A1A5-08D0-DC5A-778B31877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95E49-1E5A-1E31-5FB3-771FAC2D1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CDE8-C118-489E-BA54-73CDE3A64F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F8172-7F34-366E-BD22-23CCE0FB3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26B81-7163-CB9F-1A78-F49C05F67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98DA-CE84-47F3-84A9-71F6FE96E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0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11273-911D-9D27-544F-89511BB3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4935F-C4E4-41D2-B23B-85964AFC8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3F95A-D51B-DB8F-D893-4C6CA9F73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CDE8-C118-489E-BA54-73CDE3A64F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DC02E-7FDE-9AB0-82AE-2B2B67DE2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4D7DE-235A-7013-8782-18FF5B7D5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98DA-CE84-47F3-84A9-71F6FE96E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34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1E5110-0A76-2C16-9061-D04C9DB59B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3451FE-654F-22D9-7B87-0ABCD2584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9F7DA-DF85-B14E-A69E-DFBEFCE5B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CDE8-C118-489E-BA54-73CDE3A64F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607C5-2CE8-65A4-6A5F-127D2FF8F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C9310-506D-662A-1B73-D76EBEA48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98DA-CE84-47F3-84A9-71F6FE96E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1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7A376-8521-6577-2D07-990054A88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01D1AD-C5AE-D5D5-8AEB-3CF00915D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218E4-0D79-BDF6-8381-F4230E4C1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1445C-3C43-0979-3BC3-3C50A3764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8579E-F99E-72F7-92FC-E65D1F06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27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3A46-966F-0889-0D6C-46EF223F7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90CF1-7AE8-CB01-72A6-3E5EC146C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82178-CB10-3C0D-9F26-FF03AA7D1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6E56D-AAF0-53B1-2EB3-2B05DB7BE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8C5A6-8A41-BFE5-5181-AD86B015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33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4A1F-F392-185D-224B-A830DD235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378F9-DE95-A055-2AC6-E7157142E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63784-AC7B-9035-BD5F-CA457D8DE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98C38-8659-E5D3-AA01-9DBE632E3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600AF-5C3D-1998-F8D6-2A1AD0195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82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FF7E-5293-08F1-D9A1-3A1680CEE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6F6F1-FDCC-6B3B-E060-DBA64E0B8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95A3E-2804-E8CE-36A7-16F0D67A0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2C1A7-880C-CD35-6519-B44C1C001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7389A-7BA7-00F2-9F0C-3FF625C3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9FFEB-E07F-475A-DC43-D784B049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37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5AF15-66DF-0200-BF84-20E7FCAE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C9DF7-FFE2-ACA5-598F-2E8D05F02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1AC6B-6EB4-8880-6CF2-B757060F0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57C6A-70C4-5D49-7AA6-6162923068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BEDBF-9DCC-3C70-9011-CC3E8927C1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2DCA26-C658-60E2-1424-45272CAB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DD7996-8661-7137-DBB1-48A6E8A73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E27E70-8897-E13C-10F1-24FFB6B1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879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71C0-5D8F-1D28-606D-4024F95F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450D43-A793-90E4-6A35-09A203BFF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43902-4D2D-7893-9F50-76AD33027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BBF6F-A580-C66C-7FD8-0CD657578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3129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9A4C65-793A-0452-3B22-EF9BAA6AB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B1979F-ACA8-3AB5-9C5B-FFA463C1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4F9D8-209E-4082-0939-7461D157A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944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0A0C-21B5-5B1E-1A71-72C64E1C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10992-4A91-CA9A-6790-69C97B74C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8F628-8009-4622-AD04-87974ADF9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9F7B8-21E1-FDBD-DF34-35B77CC99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FEC55-0B6B-4ADF-137A-EDE9BBC3C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17AA9-A09D-95A1-845A-00284158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887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1A1C2-1457-BA97-E02B-7478A5F7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5BB29C-956B-CB9A-82C7-D1A75368E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E78F4-29DC-15C6-EB91-0CB176A9F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62D2E-911E-E254-4D20-F879D010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72F32-771C-2443-DCDF-49353E280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AD2F7-6465-65FF-9CBC-7F6BF4705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25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23E70-A6AC-9EA6-A861-3E9FAA9E7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1546D-E49F-3CBD-23CB-6B06B2C4F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91AD8-77DA-E023-CE62-8DB5F66E0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C62C2-A50D-B686-F94E-63E71CD7A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FBBC1-AC3E-2F70-80F3-F31F052F8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35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8C326-4850-1342-F77B-8A9CFA2B5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7BE1D-65FF-135C-6662-09A7BCF03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94B37-9ED6-9087-1C2A-E654A453F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920E9-EEE5-167B-DD70-3972F6A3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42915-24C5-13A7-5B23-4A192DA24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079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6F838F-E86B-9D04-6976-E6456E203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159F2-4ECE-8FC9-C3E8-79664C1D7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F485D-689A-5FB1-6717-F36FFAB4D5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6CDE8-C118-489E-BA54-73CDE3A64F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2459D-B83A-D353-144E-13F514F87D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09973-0053-7AC7-9DFB-2973310CEF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B98DA-CE84-47F3-84A9-71F6FE96E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36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10354D-51EE-E6D6-CC86-FEEF104B1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25FF8-2273-6FDB-FD37-C132E518F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069AE-095C-7EFB-19E6-EB28335555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68321-C9E7-441E-8ECB-F5B48CA38B3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3A893-A31D-AEFC-084A-9F7122082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53884-7504-3E14-2818-7885D953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36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kubernetes.io/docs/concepts/overview/working-with-objects/namespaces/#initial-namespaces" TargetMode="Externa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hbilgen/AKSWorkshop/blob/main/src/01Setup/AKS-Quick-Deploy-Bicep.md" TargetMode="External"/><Relationship Id="rId2" Type="http://schemas.openxmlformats.org/officeDocument/2006/relationships/hyperlink" Target="https://github.com/fhbilgen/AKSWorkshop/blob/main/src/01Setup/AKS-Quick-Deploy-CLI.md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fhbilgen/AKSWorkshop/blob/main/src/01Setup/AKS-Quick-Deploy-Terraform.md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92AE-673E-92C5-303F-25E8450BD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AKS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EBB44-02B4-0E0C-DADA-EC740183DF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Faik Hakan Bilgen, </a:t>
            </a:r>
          </a:p>
          <a:p>
            <a:r>
              <a:rPr lang="en-US" dirty="0"/>
              <a:t>Sr. CSA, Microsoft</a:t>
            </a:r>
          </a:p>
        </p:txBody>
      </p:sp>
    </p:spTree>
    <p:extLst>
      <p:ext uri="{BB962C8B-B14F-4D97-AF65-F5344CB8AC3E}">
        <p14:creationId xmlns:p14="http://schemas.microsoft.com/office/powerpoint/2010/main" val="178528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ABDE96-608C-110E-E9D1-C9B7D2B4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to AKS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968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103C54-94F3-CD0A-69BC-C34C633AB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Azure Kubernetes Service (AKS)</a:t>
            </a:r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4CA8F-FF10-AEE3-BC3E-A64F90A2042F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AKS reduces the complexity and operational overhead of managing 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Kubernetes by offloading much of that responsibility to Azure. 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Azure Kubernetes Service (AKS) is a managed Kubernetes service 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that you can use to deploy and manage  containerized applications 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that require high availability, scalability, and portability, and 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 deploying applications to multiple regions, 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using open-source tools and integrating with existing DevOps tools.</a:t>
            </a:r>
          </a:p>
        </p:txBody>
      </p:sp>
      <p:pic>
        <p:nvPicPr>
          <p:cNvPr id="4" name="Picture 3" descr="AKS overview graphic">
            <a:extLst>
              <a:ext uri="{FF2B5EF4-FFF2-40B4-BE49-F238E27FC236}">
                <a16:creationId xmlns:a16="http://schemas.microsoft.com/office/drawing/2014/main" id="{943FE01B-8082-F704-5AE6-D2031BBC3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613892"/>
            <a:ext cx="5458968" cy="363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34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5B77F-8050-25C5-75A7-D5FCF5C31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Container Solutions in Azure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A0C392-C3D3-2A72-515E-9DE3E1619817}"/>
              </a:ext>
            </a:extLst>
          </p:cNvPr>
          <p:cNvGraphicFramePr>
            <a:graphicFrameLocks noGrp="1"/>
          </p:cNvGraphicFramePr>
          <p:nvPr/>
        </p:nvGraphicFramePr>
        <p:xfrm>
          <a:off x="411068" y="2754889"/>
          <a:ext cx="11366817" cy="3343524"/>
        </p:xfrm>
        <a:graphic>
          <a:graphicData uri="http://schemas.openxmlformats.org/drawingml/2006/table">
            <a:tbl>
              <a:tblPr/>
              <a:tblGrid>
                <a:gridCol w="5209489">
                  <a:extLst>
                    <a:ext uri="{9D8B030D-6E8A-4147-A177-3AD203B41FA5}">
                      <a16:colId xmlns:a16="http://schemas.microsoft.com/office/drawing/2014/main" val="1321913779"/>
                    </a:ext>
                  </a:extLst>
                </a:gridCol>
                <a:gridCol w="6157328">
                  <a:extLst>
                    <a:ext uri="{9D8B030D-6E8A-4147-A177-3AD203B41FA5}">
                      <a16:colId xmlns:a16="http://schemas.microsoft.com/office/drawing/2014/main" val="1008314529"/>
                    </a:ext>
                  </a:extLst>
                </a:gridCol>
              </a:tblGrid>
              <a:tr h="5572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Container solution</a:t>
                      </a:r>
                    </a:p>
                  </a:txBody>
                  <a:tcPr marL="11226" marR="11226" marT="112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Resource type</a:t>
                      </a:r>
                    </a:p>
                  </a:txBody>
                  <a:tcPr marL="11226" marR="11226" marT="112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305136"/>
                  </a:ext>
                </a:extLst>
              </a:tr>
              <a:tr h="5572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Azure Kubernetes Service</a:t>
                      </a:r>
                    </a:p>
                  </a:txBody>
                  <a:tcPr marL="11226" marR="11226" marT="112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Managed Kubernetes</a:t>
                      </a:r>
                    </a:p>
                  </a:txBody>
                  <a:tcPr marL="11226" marR="11226" marT="112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908075"/>
                  </a:ext>
                </a:extLst>
              </a:tr>
              <a:tr h="5572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Azure Red Hat OpenShift</a:t>
                      </a:r>
                    </a:p>
                  </a:txBody>
                  <a:tcPr marL="11226" marR="11226" marT="112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Managed Kubernetes</a:t>
                      </a:r>
                    </a:p>
                  </a:txBody>
                  <a:tcPr marL="11226" marR="11226" marT="112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560591"/>
                  </a:ext>
                </a:extLst>
              </a:tr>
              <a:tr h="5572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Azure Arc-enabled Kubernetes</a:t>
                      </a:r>
                    </a:p>
                  </a:txBody>
                  <a:tcPr marL="11226" marR="11226" marT="112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Unmanaged Kubernetes</a:t>
                      </a:r>
                    </a:p>
                  </a:txBody>
                  <a:tcPr marL="11226" marR="11226" marT="112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821266"/>
                  </a:ext>
                </a:extLst>
              </a:tr>
              <a:tr h="5572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Azure Container Instances</a:t>
                      </a:r>
                    </a:p>
                  </a:txBody>
                  <a:tcPr marL="11226" marR="11226" marT="112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Managed Docker container instance</a:t>
                      </a:r>
                    </a:p>
                  </a:txBody>
                  <a:tcPr marL="11226" marR="11226" marT="112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02851"/>
                  </a:ext>
                </a:extLst>
              </a:tr>
              <a:tr h="5572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Azure Container Apps</a:t>
                      </a:r>
                    </a:p>
                  </a:txBody>
                  <a:tcPr marL="11226" marR="11226" marT="112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Managed Kubernetes</a:t>
                      </a:r>
                    </a:p>
                  </a:txBody>
                  <a:tcPr marL="11226" marR="11226" marT="112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392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8797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46E584-4808-01F1-775C-40CECB2E9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 Cases for AKS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308570-471D-1B6E-AC13-C0EAB77B4E65}"/>
              </a:ext>
            </a:extLst>
          </p:cNvPr>
          <p:cNvSpPr txBox="1"/>
          <p:nvPr/>
        </p:nvSpPr>
        <p:spPr>
          <a:xfrm>
            <a:off x="1115568" y="2481943"/>
            <a:ext cx="10168128" cy="3695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Lift and shift to containers with AKS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Migrate existing applications to containers and run them in a fully managed Kubernetes environment.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Microservices with AKS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Simplify the deployment and management of microservices-based applications with streamlined horizontal scaling, 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self-healing, load balancing, and secret management.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Secure DevOps for AKS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Efficiently balance speed and security by implementing secure DevOps with Kubernetes.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Bursting from AKS with ACI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 virtual nodes to provision pods inside ACI that start in seconds and scale to meet demand.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Machine learning model training with AKS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Train models using large datasets with familiar tools, such as TensorFlow and Kubeflow.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Data streaming with AKS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Ingest and process real-time data streams with millions of data points collected via sensors, and 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perform fast analyses and computations to develop insights into complex scenarios.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Using Windows containers on AKS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Run Windows Server containers on AKS to modernize your Windows applications and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4035011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D5F3E-3274-A4EA-9184-A474AB90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92" y="178050"/>
            <a:ext cx="10515600" cy="1325563"/>
          </a:xfrm>
        </p:spPr>
        <p:txBody>
          <a:bodyPr/>
          <a:lstStyle/>
          <a:p>
            <a:r>
              <a:rPr lang="en-US" dirty="0"/>
              <a:t>Core AKS Concepts</a:t>
            </a:r>
          </a:p>
        </p:txBody>
      </p:sp>
      <p:pic>
        <p:nvPicPr>
          <p:cNvPr id="3" name="Picture 2" descr="Screenshot that shows Kubernetes control plane and node components.">
            <a:extLst>
              <a:ext uri="{FF2B5EF4-FFF2-40B4-BE49-F238E27FC236}">
                <a16:creationId xmlns:a16="http://schemas.microsoft.com/office/drawing/2014/main" id="{20A97B22-892C-F67C-F7CA-236A3374C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1" y="2588353"/>
            <a:ext cx="7354139" cy="2500483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C0B21F-3F75-8318-D06A-8F7FA0E4EBDC}"/>
              </a:ext>
            </a:extLst>
          </p:cNvPr>
          <p:cNvGraphicFramePr>
            <a:graphicFrameLocks noGrp="1"/>
          </p:cNvGraphicFramePr>
          <p:nvPr/>
        </p:nvGraphicFramePr>
        <p:xfrm>
          <a:off x="109331" y="5419573"/>
          <a:ext cx="11979994" cy="11519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9222">
                  <a:extLst>
                    <a:ext uri="{9D8B030D-6E8A-4147-A177-3AD203B41FA5}">
                      <a16:colId xmlns:a16="http://schemas.microsoft.com/office/drawing/2014/main" val="485223955"/>
                    </a:ext>
                  </a:extLst>
                </a:gridCol>
                <a:gridCol w="10160772">
                  <a:extLst>
                    <a:ext uri="{9D8B030D-6E8A-4147-A177-3AD203B41FA5}">
                      <a16:colId xmlns:a16="http://schemas.microsoft.com/office/drawing/2014/main" val="151661831"/>
                    </a:ext>
                  </a:extLst>
                </a:gridCol>
              </a:tblGrid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Component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Description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1867125782"/>
                  </a:ext>
                </a:extLst>
              </a:tr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kube-apiserver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The API server (</a:t>
                      </a:r>
                      <a:r>
                        <a:rPr lang="en-US" sz="1200" u="none" strike="noStrike" dirty="0" err="1">
                          <a:effectLst/>
                        </a:rPr>
                        <a:t>kube-apiserver</a:t>
                      </a:r>
                      <a:r>
                        <a:rPr lang="en-US" sz="1200" u="none" strike="noStrike" dirty="0">
                          <a:effectLst/>
                        </a:rPr>
                        <a:t>) exposes the Kubernetes API to enable requests to the cluster from inside and outside of the cluster.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389410587"/>
                  </a:ext>
                </a:extLst>
              </a:tr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etcd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The highly available key-value store </a:t>
                      </a:r>
                      <a:r>
                        <a:rPr lang="en-US" sz="1200" u="none" strike="noStrike" dirty="0" err="1">
                          <a:effectLst/>
                        </a:rPr>
                        <a:t>etcd</a:t>
                      </a:r>
                      <a:r>
                        <a:rPr lang="en-US" sz="1200" u="none" strike="noStrike" dirty="0">
                          <a:effectLst/>
                        </a:rPr>
                        <a:t> helps to maintain the state of your Kubernetes cluster and configuration.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3302582193"/>
                  </a:ext>
                </a:extLst>
              </a:tr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kube</a:t>
                      </a:r>
                      <a:r>
                        <a:rPr lang="en-US" sz="1200" u="none" strike="noStrike" dirty="0">
                          <a:effectLst/>
                        </a:rPr>
                        <a:t>-scheduler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The scheduler (</a:t>
                      </a:r>
                      <a:r>
                        <a:rPr lang="en-US" sz="1200" u="none" strike="noStrike" dirty="0" err="1">
                          <a:effectLst/>
                        </a:rPr>
                        <a:t>kube</a:t>
                      </a:r>
                      <a:r>
                        <a:rPr lang="en-US" sz="1200" u="none" strike="noStrike" dirty="0">
                          <a:effectLst/>
                        </a:rPr>
                        <a:t>-scheduler) helps to make scheduling decisions. It watches for new pods with no assigned node and selects a node for them to run on.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1708439964"/>
                  </a:ext>
                </a:extLst>
              </a:tr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kube</a:t>
                      </a:r>
                      <a:r>
                        <a:rPr lang="en-US" sz="1200" u="none" strike="noStrike" dirty="0">
                          <a:effectLst/>
                        </a:rPr>
                        <a:t>-controller-manager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The controller manager (</a:t>
                      </a:r>
                      <a:r>
                        <a:rPr lang="en-US" sz="1200" u="none" strike="noStrike" dirty="0" err="1">
                          <a:effectLst/>
                        </a:rPr>
                        <a:t>kube</a:t>
                      </a:r>
                      <a:r>
                        <a:rPr lang="en-US" sz="1200" u="none" strike="noStrike" dirty="0">
                          <a:effectLst/>
                        </a:rPr>
                        <a:t>-controller-manager) runs controller processes, such as noticing and responding when nodes go down.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3700435068"/>
                  </a:ext>
                </a:extLst>
              </a:tr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cloud-controller-manager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The cloud controller manager (cloud-controller-manager) embeds cloud-specific control logic to run controllers specific to the cloud provider.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284227319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B5596D-B5EB-4F51-B104-1E68501723E6}"/>
              </a:ext>
            </a:extLst>
          </p:cNvPr>
          <p:cNvGraphicFramePr>
            <a:graphicFrameLocks noGrp="1"/>
          </p:cNvGraphicFramePr>
          <p:nvPr/>
        </p:nvGraphicFramePr>
        <p:xfrm>
          <a:off x="3786400" y="1485433"/>
          <a:ext cx="6142791" cy="72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0190">
                  <a:extLst>
                    <a:ext uri="{9D8B030D-6E8A-4147-A177-3AD203B41FA5}">
                      <a16:colId xmlns:a16="http://schemas.microsoft.com/office/drawing/2014/main" val="2270962505"/>
                    </a:ext>
                  </a:extLst>
                </a:gridCol>
                <a:gridCol w="4782601">
                  <a:extLst>
                    <a:ext uri="{9D8B030D-6E8A-4147-A177-3AD203B41FA5}">
                      <a16:colId xmlns:a16="http://schemas.microsoft.com/office/drawing/2014/main" val="2286568558"/>
                    </a:ext>
                  </a:extLst>
                </a:gridCol>
              </a:tblGrid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Component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Description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3148962137"/>
                  </a:ext>
                </a:extLst>
              </a:tr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kubelet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The </a:t>
                      </a:r>
                      <a:r>
                        <a:rPr lang="en-US" sz="1100" u="none" strike="noStrike" dirty="0" err="1">
                          <a:effectLst/>
                        </a:rPr>
                        <a:t>kubelet</a:t>
                      </a:r>
                      <a:r>
                        <a:rPr lang="en-US" sz="1100" u="none" strike="noStrike" dirty="0">
                          <a:effectLst/>
                        </a:rPr>
                        <a:t> ensures that containers are running in a pod.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1453412865"/>
                  </a:ext>
                </a:extLst>
              </a:tr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kube</a:t>
                      </a:r>
                      <a:r>
                        <a:rPr lang="en-US" sz="1100" u="none" strike="noStrike" dirty="0">
                          <a:effectLst/>
                        </a:rPr>
                        <a:t>-proxy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The </a:t>
                      </a:r>
                      <a:r>
                        <a:rPr lang="en-US" sz="1100" u="none" strike="noStrike" dirty="0" err="1">
                          <a:effectLst/>
                        </a:rPr>
                        <a:t>kube</a:t>
                      </a:r>
                      <a:r>
                        <a:rPr lang="en-US" sz="1100" u="none" strike="noStrike" dirty="0">
                          <a:effectLst/>
                        </a:rPr>
                        <a:t>-proxy is a network proxy that maintains network rules on nodes.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4093343171"/>
                  </a:ext>
                </a:extLst>
              </a:tr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container runtime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The container runtime manages the execution and lifecycle of containers.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3855180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168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F45A25-5BD5-5C37-486F-EBC4ED6DB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0459FE-BEE7-ADAC-2F0C-F8F045ED3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Core AKS Concepts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406BB-5A07-630E-07AF-5332BABEBC3D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VM size and image</a:t>
            </a: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OS disks</a:t>
            </a: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Resource reservations</a:t>
            </a: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OS</a:t>
            </a: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Container runtime</a:t>
            </a: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Pods</a:t>
            </a: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Node pools</a:t>
            </a: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Node resource group</a:t>
            </a:r>
          </a:p>
        </p:txBody>
      </p:sp>
      <p:pic>
        <p:nvPicPr>
          <p:cNvPr id="6" name="Picture 5" descr="Screenshot that shows Azure virtual machine and supporting resources for a Kubernetes node.">
            <a:extLst>
              <a:ext uri="{FF2B5EF4-FFF2-40B4-BE49-F238E27FC236}">
                <a16:creationId xmlns:a16="http://schemas.microsoft.com/office/drawing/2014/main" id="{E98C48E4-C6B7-5FFE-60AF-6BF91DD0D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642" y="1807331"/>
            <a:ext cx="7112374" cy="301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846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48DF1-9D1E-CA48-E822-4EA053E30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AA174-CE76-67FD-9BE7-BA259A053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92" y="178050"/>
            <a:ext cx="10515600" cy="1325563"/>
          </a:xfrm>
        </p:spPr>
        <p:txBody>
          <a:bodyPr/>
          <a:lstStyle/>
          <a:p>
            <a:r>
              <a:rPr lang="en-US" dirty="0"/>
              <a:t>Core AKS Concepts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22E0BD8-4377-0EA0-B4F5-C4AAA074CAE4}"/>
              </a:ext>
            </a:extLst>
          </p:cNvPr>
          <p:cNvGraphicFramePr>
            <a:graphicFrameLocks noGrp="1"/>
          </p:cNvGraphicFramePr>
          <p:nvPr/>
        </p:nvGraphicFramePr>
        <p:xfrm>
          <a:off x="5793840" y="1503614"/>
          <a:ext cx="5944273" cy="3603651"/>
        </p:xfrm>
        <a:graphic>
          <a:graphicData uri="http://schemas.openxmlformats.org/drawingml/2006/table">
            <a:tbl>
              <a:tblPr/>
              <a:tblGrid>
                <a:gridCol w="1284760">
                  <a:extLst>
                    <a:ext uri="{9D8B030D-6E8A-4147-A177-3AD203B41FA5}">
                      <a16:colId xmlns:a16="http://schemas.microsoft.com/office/drawing/2014/main" val="24335307"/>
                    </a:ext>
                  </a:extLst>
                </a:gridCol>
                <a:gridCol w="4659513">
                  <a:extLst>
                    <a:ext uri="{9D8B030D-6E8A-4147-A177-3AD203B41FA5}">
                      <a16:colId xmlns:a16="http://schemas.microsoft.com/office/drawing/2014/main" val="1815111238"/>
                    </a:ext>
                  </a:extLst>
                </a:gridCol>
              </a:tblGrid>
              <a:tr h="2138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dirty="0">
                          <a:effectLst/>
                        </a:rPr>
                        <a:t>Namespace</a:t>
                      </a: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dirty="0">
                          <a:effectLst/>
                        </a:rPr>
                        <a:t>Description</a:t>
                      </a: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264825"/>
                  </a:ext>
                </a:extLst>
              </a:tr>
              <a:tr h="5221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  <a:latin typeface="SFMono-Regular"/>
                        </a:rPr>
                        <a:t>default</a:t>
                      </a:r>
                      <a:endParaRPr lang="en-US" sz="1300" dirty="0">
                        <a:effectLst/>
                      </a:endParaRP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The </a:t>
                      </a:r>
                      <a:r>
                        <a:rPr lang="en-US" sz="13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default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300" dirty="0">
                          <a:effectLst/>
                        </a:rPr>
                        <a:t>namespace allows you to start using cluster resources without creating a new namespace.</a:t>
                      </a: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108672"/>
                  </a:ext>
                </a:extLst>
              </a:tr>
              <a:tr h="5221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 err="1">
                          <a:effectLst/>
                          <a:latin typeface="SFMono-Regular"/>
                        </a:rPr>
                        <a:t>kube</a:t>
                      </a:r>
                      <a:r>
                        <a:rPr lang="en-US" sz="1300" dirty="0">
                          <a:effectLst/>
                          <a:latin typeface="SFMono-Regular"/>
                        </a:rPr>
                        <a:t>-node-lease</a:t>
                      </a:r>
                      <a:endParaRPr lang="en-US" sz="1300" dirty="0">
                        <a:effectLst/>
                      </a:endParaRP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The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3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kube</a:t>
                      </a:r>
                      <a:r>
                        <a:rPr lang="en-US" sz="13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-node-lease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300" dirty="0">
                          <a:effectLst/>
                        </a:rPr>
                        <a:t>namespace enables nodes to communicate their availability to the control plane.</a:t>
                      </a: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400437"/>
                  </a:ext>
                </a:extLst>
              </a:tr>
              <a:tr h="6787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  <a:latin typeface="SFMono-Regular"/>
                        </a:rPr>
                        <a:t>kube-public</a:t>
                      </a:r>
                      <a:endParaRPr lang="en-US" sz="1300">
                        <a:effectLst/>
                      </a:endParaRP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The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3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kube</a:t>
                      </a:r>
                      <a:r>
                        <a:rPr lang="en-US" sz="13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-public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300" dirty="0">
                          <a:effectLst/>
                        </a:rPr>
                        <a:t>namespace isn't typically used, but you can use it so that resources are visible across the whole cluster by any user.</a:t>
                      </a: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92066"/>
                  </a:ext>
                </a:extLst>
              </a:tr>
              <a:tr h="161855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 err="1">
                          <a:effectLst/>
                          <a:latin typeface="SFMono-Regular"/>
                        </a:rPr>
                        <a:t>kube</a:t>
                      </a:r>
                      <a:r>
                        <a:rPr lang="en-US" sz="1300" dirty="0">
                          <a:effectLst/>
                          <a:latin typeface="SFMono-Regular"/>
                        </a:rPr>
                        <a:t>-system</a:t>
                      </a:r>
                      <a:endParaRPr lang="en-US" sz="1300" dirty="0">
                        <a:effectLst/>
                      </a:endParaRP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The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3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kube</a:t>
                      </a:r>
                      <a:r>
                        <a:rPr lang="en-US" sz="13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-system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300" dirty="0">
                          <a:effectLst/>
                        </a:rPr>
                        <a:t>namespace is used by Kubernetes to manage cluster resources, such as </a:t>
                      </a:r>
                      <a:r>
                        <a:rPr lang="en-US" sz="1300" dirty="0" err="1">
                          <a:effectLst/>
                          <a:latin typeface="SFMono-Regular"/>
                        </a:rPr>
                        <a:t>coredns</a:t>
                      </a:r>
                      <a:r>
                        <a:rPr lang="en-US" sz="1300" dirty="0">
                          <a:effectLst/>
                        </a:rPr>
                        <a:t>, </a:t>
                      </a:r>
                      <a:r>
                        <a:rPr lang="en-US" sz="1300" dirty="0" err="1">
                          <a:effectLst/>
                          <a:latin typeface="SFMono-Regular"/>
                        </a:rPr>
                        <a:t>konnectivity</a:t>
                      </a:r>
                      <a:r>
                        <a:rPr lang="en-US" sz="1300" dirty="0">
                          <a:effectLst/>
                          <a:latin typeface="SFMono-Regular"/>
                        </a:rPr>
                        <a:t>-agent</a:t>
                      </a:r>
                      <a:r>
                        <a:rPr lang="en-US" sz="1300" dirty="0">
                          <a:effectLst/>
                        </a:rPr>
                        <a:t>, and </a:t>
                      </a:r>
                      <a:r>
                        <a:rPr lang="en-US" sz="1300" dirty="0">
                          <a:effectLst/>
                          <a:latin typeface="SFMono-Regular"/>
                        </a:rPr>
                        <a:t>metrics-server</a:t>
                      </a:r>
                      <a:r>
                        <a:rPr lang="en-US" sz="1300" dirty="0">
                          <a:effectLst/>
                        </a:rPr>
                        <a:t>. It is not recommended to deploy your own applications to this namespace. </a:t>
                      </a: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93231"/>
                  </a:ext>
                </a:extLst>
              </a:tr>
            </a:tbl>
          </a:graphicData>
        </a:graphic>
      </p:graphicFrame>
      <p:pic>
        <p:nvPicPr>
          <p:cNvPr id="4" name="Picture 3" descr="Screenshot that shows Kubernetes namespaces to logically divide resources and applications.">
            <a:extLst>
              <a:ext uri="{FF2B5EF4-FFF2-40B4-BE49-F238E27FC236}">
                <a16:creationId xmlns:a16="http://schemas.microsoft.com/office/drawing/2014/main" id="{0DA98881-624A-66E5-F61B-9DADC7570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59" y="1503613"/>
            <a:ext cx="4678163" cy="355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814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BE0B89-E77A-F662-6D28-4839F54E2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Setting up an AKS Cluster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626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3E277-BE1C-BA7B-FEEF-1E721434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an AKS Cluster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D693D8-43AF-01A9-189B-5F44377E34A0}"/>
              </a:ext>
            </a:extLst>
          </p:cNvPr>
          <p:cNvGraphicFramePr>
            <a:graphicFrameLocks noGrp="1"/>
          </p:cNvGraphicFramePr>
          <p:nvPr/>
        </p:nvGraphicFramePr>
        <p:xfrm>
          <a:off x="382104" y="1780139"/>
          <a:ext cx="11693939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141">
                  <a:extLst>
                    <a:ext uri="{9D8B030D-6E8A-4147-A177-3AD203B41FA5}">
                      <a16:colId xmlns:a16="http://schemas.microsoft.com/office/drawing/2014/main" val="883490984"/>
                    </a:ext>
                  </a:extLst>
                </a:gridCol>
                <a:gridCol w="9101798">
                  <a:extLst>
                    <a:ext uri="{9D8B030D-6E8A-4147-A177-3AD203B41FA5}">
                      <a16:colId xmlns:a16="http://schemas.microsoft.com/office/drawing/2014/main" val="2203427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Method of set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Setup Guidance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248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Via Azure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746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Using Azure 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hlinkClick r:id="rId2"/>
                        </a:rPr>
                        <a:t>AKSWorkshop/src/01Setup/AKS-Quick-Deploy-CLI.md at main · </a:t>
                      </a:r>
                      <a:r>
                        <a:rPr lang="en-US" sz="1800" dirty="0" err="1">
                          <a:hlinkClick r:id="rId2"/>
                        </a:rPr>
                        <a:t>fhbilgen</a:t>
                      </a:r>
                      <a:r>
                        <a:rPr lang="en-US" sz="1800" dirty="0">
                          <a:hlinkClick r:id="rId2"/>
                        </a:rPr>
                        <a:t>/</a:t>
                      </a:r>
                      <a:r>
                        <a:rPr lang="en-US" sz="1800" dirty="0" err="1">
                          <a:hlinkClick r:id="rId2"/>
                        </a:rPr>
                        <a:t>AKSWorkshop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87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Using Bicep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AKSWorkshop/src/01Setup/AKS-Quick-Deploy-Bicep.md at main · </a:t>
                      </a:r>
                      <a:r>
                        <a:rPr lang="en-US" dirty="0" err="1">
                          <a:hlinkClick r:id="rId3"/>
                        </a:rPr>
                        <a:t>fhbilgen</a:t>
                      </a:r>
                      <a:r>
                        <a:rPr lang="en-US" dirty="0">
                          <a:hlinkClick r:id="rId3"/>
                        </a:rPr>
                        <a:t>/</a:t>
                      </a:r>
                      <a:r>
                        <a:rPr lang="en-US" dirty="0" err="1">
                          <a:hlinkClick r:id="rId3"/>
                        </a:rPr>
                        <a:t>AKSWorkshop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03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Using Terraform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AKSWorkshop/src/01Setup/AKS-Quick-Deploy-Terraform.md at main · </a:t>
                      </a:r>
                      <a:r>
                        <a:rPr lang="en-US" dirty="0" err="1">
                          <a:hlinkClick r:id="rId4"/>
                        </a:rPr>
                        <a:t>fhbilgen</a:t>
                      </a:r>
                      <a:r>
                        <a:rPr lang="en-US" dirty="0">
                          <a:hlinkClick r:id="rId4"/>
                        </a:rPr>
                        <a:t>/</a:t>
                      </a:r>
                      <a:r>
                        <a:rPr lang="en-US" dirty="0" err="1">
                          <a:hlinkClick r:id="rId4"/>
                        </a:rPr>
                        <a:t>AKSWorkshop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169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4607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108BA-CE66-2908-88CD-284D3F554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0EBD9-543C-DF01-01FB-128713202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Setup AKS via Azure Portal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0744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595415-F8A2-925F-347D-580278395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A6A85A-3898-8708-DA50-4786E3098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679508-4C8E-F361-73C8-7DCC085C3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14E64-C23E-2075-52F8-52D570FF7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Setup AKS using Azure CLI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B67ECE3-4667-A7F1-7E15-6358AAEF5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185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7F6FB-E2C5-FC5B-EA70-E1697F407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B269875-6B9C-B0EE-11F0-B1406B07F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F2952-DD93-2955-E209-FA36DA03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E0EC7-9B64-8CAC-6EF7-261DF94CD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Setup AKS using Bicep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7CF8C58A-B38E-DC8A-F346-56B781DDC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8868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E8D0B-A88C-8689-43AC-3BB738087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91692A1-E5A1-CADE-5D09-785DF5A11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6BD512-AE7A-3A13-0401-C142EA1AC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CDEF3-531D-2475-F07C-AF3B9C03C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Setup AKS </a:t>
            </a:r>
            <a:r>
              <a:rPr lang="en-US" sz="2400"/>
              <a:t>using Terraform</a:t>
            </a:r>
            <a:endParaRPr lang="en-US" sz="2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9DDA4AE3-947C-D045-7BB0-95BE1801E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1351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659</Words>
  <Application>Microsoft Office PowerPoint</Application>
  <PresentationFormat>Widescreen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Aptos Narrow</vt:lpstr>
      <vt:lpstr>Arial</vt:lpstr>
      <vt:lpstr>Calibri</vt:lpstr>
      <vt:lpstr>SFMono-Regular</vt:lpstr>
      <vt:lpstr>Office Theme</vt:lpstr>
      <vt:lpstr>1_Office Theme</vt:lpstr>
      <vt:lpstr>AKS Workshop</vt:lpstr>
      <vt:lpstr>Introduction to AKS</vt:lpstr>
      <vt:lpstr>Azure Kubernetes Service (AKS)</vt:lpstr>
      <vt:lpstr>Container Solutions in Azure</vt:lpstr>
      <vt:lpstr>Use Cases for AKS</vt:lpstr>
      <vt:lpstr>Core AKS Concepts</vt:lpstr>
      <vt:lpstr>Core AKS Concepts</vt:lpstr>
      <vt:lpstr>Core AKS Concepts</vt:lpstr>
      <vt:lpstr>Setting up an AKS Cluster</vt:lpstr>
      <vt:lpstr>Setup an AKS Cluster</vt:lpstr>
      <vt:lpstr>DEMO</vt:lpstr>
      <vt:lpstr>DEMO</vt:lpstr>
      <vt:lpstr>DEMO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Faik Hakan Bilgen</dc:creator>
  <cp:lastModifiedBy>Faik Hakan Bilgen</cp:lastModifiedBy>
  <cp:revision>1</cp:revision>
  <dcterms:created xsi:type="dcterms:W3CDTF">2026-01-16T08:19:19Z</dcterms:created>
  <dcterms:modified xsi:type="dcterms:W3CDTF">2026-01-16T08:41:18Z</dcterms:modified>
</cp:coreProperties>
</file>