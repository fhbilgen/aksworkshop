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sldIdLst>
    <p:sldId id="256" r:id="rId3"/>
    <p:sldId id="265" r:id="rId4"/>
    <p:sldId id="260" r:id="rId5"/>
    <p:sldId id="262" r:id="rId6"/>
    <p:sldId id="263" r:id="rId7"/>
    <p:sldId id="257" r:id="rId8"/>
    <p:sldId id="258" r:id="rId9"/>
    <p:sldId id="259" r:id="rId10"/>
    <p:sldId id="264" r:id="rId11"/>
    <p:sldId id="266" r:id="rId12"/>
    <p:sldId id="279" r:id="rId13"/>
    <p:sldId id="280" r:id="rId14"/>
    <p:sldId id="281" r:id="rId15"/>
    <p:sldId id="282" r:id="rId16"/>
    <p:sldId id="334" r:id="rId17"/>
    <p:sldId id="335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5BB7F4B-7A2D-400A-BF41-C6DFD8417B3B}" v="5" dt="2026-01-21T07:46:18.98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96" d="100"/>
          <a:sy n="96" d="100"/>
        </p:scale>
        <p:origin x="1152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" Type="http://schemas.openxmlformats.org/officeDocument/2006/relationships/slide" Target="slides/slide1.xml"/><Relationship Id="rId21" Type="http://schemas.openxmlformats.org/officeDocument/2006/relationships/theme" Target="theme/them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microsoft.com/office/2015/10/relationships/revisionInfo" Target="revisionInfo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microsoft.com/office/2016/11/relationships/changesInfo" Target="changesInfos/changesInfo1.xml"/><Relationship Id="rId10" Type="http://schemas.openxmlformats.org/officeDocument/2006/relationships/slide" Target="slides/slide8.xml"/><Relationship Id="rId19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aik bilgen" userId="9fcb1696e65a161f" providerId="LiveId" clId="{0C3A4C9E-717D-4ADE-97E0-B0AD580B3355}"/>
    <pc:docChg chg="addSld modSld">
      <pc:chgData name="faik bilgen" userId="9fcb1696e65a161f" providerId="LiveId" clId="{0C3A4C9E-717D-4ADE-97E0-B0AD580B3355}" dt="2026-01-21T07:46:18.974" v="72"/>
      <pc:docMkLst>
        <pc:docMk/>
      </pc:docMkLst>
      <pc:sldChg chg="modSp add mod">
        <pc:chgData name="faik bilgen" userId="9fcb1696e65a161f" providerId="LiveId" clId="{0C3A4C9E-717D-4ADE-97E0-B0AD580B3355}" dt="2026-01-16T08:40:18.944" v="26" actId="20577"/>
        <pc:sldMkLst>
          <pc:docMk/>
          <pc:sldMk cId="2540744057" sldId="279"/>
        </pc:sldMkLst>
        <pc:spChg chg="mod">
          <ac:chgData name="faik bilgen" userId="9fcb1696e65a161f" providerId="LiveId" clId="{0C3A4C9E-717D-4ADE-97E0-B0AD580B3355}" dt="2026-01-16T08:40:18.944" v="26" actId="20577"/>
          <ac:spMkLst>
            <pc:docMk/>
            <pc:sldMk cId="2540744057" sldId="279"/>
            <ac:spMk id="3" creationId="{ABE0EBD9-543C-DF01-01FB-128713202535}"/>
          </ac:spMkLst>
        </pc:spChg>
      </pc:sldChg>
      <pc:sldChg chg="modSp add mod">
        <pc:chgData name="faik bilgen" userId="9fcb1696e65a161f" providerId="LiveId" clId="{0C3A4C9E-717D-4ADE-97E0-B0AD580B3355}" dt="2026-01-16T08:40:46.058" v="46" actId="20577"/>
        <pc:sldMkLst>
          <pc:docMk/>
          <pc:sldMk cId="327185294" sldId="280"/>
        </pc:sldMkLst>
        <pc:spChg chg="mod">
          <ac:chgData name="faik bilgen" userId="9fcb1696e65a161f" providerId="LiveId" clId="{0C3A4C9E-717D-4ADE-97E0-B0AD580B3355}" dt="2026-01-16T08:40:46.058" v="46" actId="20577"/>
          <ac:spMkLst>
            <pc:docMk/>
            <pc:sldMk cId="327185294" sldId="280"/>
            <ac:spMk id="3" creationId="{35C14E64-C23E-2075-52F8-52D570FF7C2D}"/>
          </ac:spMkLst>
        </pc:spChg>
      </pc:sldChg>
      <pc:sldChg chg="modSp add mod">
        <pc:chgData name="faik bilgen" userId="9fcb1696e65a161f" providerId="LiveId" clId="{0C3A4C9E-717D-4ADE-97E0-B0AD580B3355}" dt="2026-01-16T08:41:05.460" v="61" actId="20577"/>
        <pc:sldMkLst>
          <pc:docMk/>
          <pc:sldMk cId="3388868937" sldId="281"/>
        </pc:sldMkLst>
        <pc:spChg chg="mod">
          <ac:chgData name="faik bilgen" userId="9fcb1696e65a161f" providerId="LiveId" clId="{0C3A4C9E-717D-4ADE-97E0-B0AD580B3355}" dt="2026-01-16T08:41:05.460" v="61" actId="20577"/>
          <ac:spMkLst>
            <pc:docMk/>
            <pc:sldMk cId="3388868937" sldId="281"/>
            <ac:spMk id="3" creationId="{5C2E0EC7-9B64-8CAC-6EF7-261DF94CD8FD}"/>
          </ac:spMkLst>
        </pc:spChg>
      </pc:sldChg>
      <pc:sldChg chg="modSp add mod">
        <pc:chgData name="faik bilgen" userId="9fcb1696e65a161f" providerId="LiveId" clId="{0C3A4C9E-717D-4ADE-97E0-B0AD580B3355}" dt="2026-01-16T08:41:16.293" v="71" actId="20577"/>
        <pc:sldMkLst>
          <pc:docMk/>
          <pc:sldMk cId="2211351908" sldId="282"/>
        </pc:sldMkLst>
        <pc:spChg chg="mod">
          <ac:chgData name="faik bilgen" userId="9fcb1696e65a161f" providerId="LiveId" clId="{0C3A4C9E-717D-4ADE-97E0-B0AD580B3355}" dt="2026-01-16T08:41:16.293" v="71" actId="20577"/>
          <ac:spMkLst>
            <pc:docMk/>
            <pc:sldMk cId="2211351908" sldId="282"/>
            <ac:spMk id="3" creationId="{B94CDEF3-531D-2475-F07C-AF3B9C03C633}"/>
          </ac:spMkLst>
        </pc:spChg>
      </pc:sldChg>
      <pc:sldChg chg="add">
        <pc:chgData name="faik bilgen" userId="9fcb1696e65a161f" providerId="LiveId" clId="{0C3A4C9E-717D-4ADE-97E0-B0AD580B3355}" dt="2026-01-21T07:46:18.974" v="72"/>
        <pc:sldMkLst>
          <pc:docMk/>
          <pc:sldMk cId="1936368771" sldId="334"/>
        </pc:sldMkLst>
      </pc:sldChg>
      <pc:sldChg chg="add">
        <pc:chgData name="faik bilgen" userId="9fcb1696e65a161f" providerId="LiveId" clId="{0C3A4C9E-717D-4ADE-97E0-B0AD580B3355}" dt="2026-01-21T07:46:18.974" v="72"/>
        <pc:sldMkLst>
          <pc:docMk/>
          <pc:sldMk cId="1409184322" sldId="335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6A34B-86C2-4B9A-E049-A7999696B3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F2A1E0-77B8-6EC6-6E0C-9BBF3BF2390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F7B94E-F250-D327-1EE5-0085397A3B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6CDE8-C118-489E-BA54-73CDE3A64F8D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55A3B3-8604-CD23-DA2D-DC30111758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8B24D3-307C-9F93-624A-33DC8F55B7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3B98DA-CE84-47F3-84A9-71F6FE96E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00665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03DEA-F352-7B57-704D-A61BFE9FDA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CAF24F-A7C5-8EB2-B033-E1D3DF75B5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C18354-1D84-3D8F-6D6C-1CD623E69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6CDE8-C118-489E-BA54-73CDE3A64F8D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3AF227-ED5D-CCD8-63DA-0B6A2769E0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9476D9-CAAE-28DA-65BC-6EE0F76679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3B98DA-CE84-47F3-84A9-71F6FE96E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36463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A5AB3-9003-7EBF-20A1-8DB2F0074A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07F891-5625-7F4D-E283-05924EBAFB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884EBC-964C-613A-584C-BEDBE0DD77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6CDE8-C118-489E-BA54-73CDE3A64F8D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440452-00F4-4CB1-BC44-FCB83C1EF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73992D-65CB-3BE4-7968-899BA2D26E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3B98DA-CE84-47F3-84A9-71F6FE96E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21058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9AE6E7-AA00-71A9-81B0-9555C70252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988D0F-7C67-32FC-A6B7-A2A41BDE46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D604619-74BA-B8CB-310A-49FC55DAA1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7096F6-EE6A-CE1F-901B-67D80AD30D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6CDE8-C118-489E-BA54-73CDE3A64F8D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E9C370-7116-4B19-F5C1-6077490871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86AB62-152A-FC09-9743-E156C7FA5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3B98DA-CE84-47F3-84A9-71F6FE96E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07313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DB3031-7FCF-143D-A9D6-6121E5EAD7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6FBCFE-6C36-D17B-F9F9-8E3AC16463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A0B7D24-899C-1692-835A-2FBF6F9BAE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D7D9385-099B-594D-214D-C5BDFD4D1B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A35A9F3-1C61-C023-A7EC-1001809B9E2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A01E915-0AE5-6F72-9D35-8B99DD40D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6CDE8-C118-489E-BA54-73CDE3A64F8D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CCD64AF-B2AE-13BA-8854-9346BA3BFC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D03D030-EE0C-A44F-6916-C1BE5089CA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3B98DA-CE84-47F3-84A9-71F6FE96E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02318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5A26D9-7043-2A71-65BC-E123263E16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1F05A6B-D131-9EAD-5387-C8DFB09417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6CDE8-C118-489E-BA54-73CDE3A64F8D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FA88BA-FAE7-1B6C-8C58-7099F93B09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557743-F2E8-AA2A-17CC-01D9D2883D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3B98DA-CE84-47F3-84A9-71F6FE96E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3417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032D2D3-7F1B-ED8A-95D6-096204364B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6CDE8-C118-489E-BA54-73CDE3A64F8D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3DD624C-87E5-F6B8-F0F3-B95EDF5DDA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0985AD-E600-401B-F193-BBF752E64E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3B98DA-CE84-47F3-84A9-71F6FE96E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95149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D3698-550D-B7B0-C20C-3C6AD31BCD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E968E9-9927-700C-18A6-AA6F2AECDE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97E32C-57E1-369E-1E9E-EB30847A94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EFE8C3-FE13-57C6-5BD1-4EB2E6761B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6CDE8-C118-489E-BA54-73CDE3A64F8D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F25CB4-32D0-4DFD-923A-8D9041AE81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2FA81E-A165-4992-F19D-51C49CA45A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3B98DA-CE84-47F3-84A9-71F6FE96E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38524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D1EC69-D289-4044-17F8-2BEA2B6FAD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80EFB0A-51FA-9350-9943-9E672664F61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769BFCA-A1A5-08D0-DC5A-778B318770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5495E49-1E5A-1E31-5FB3-771FAC2D11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6CDE8-C118-489E-BA54-73CDE3A64F8D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1F8172-7F34-366E-BD22-23CCE0FB35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026B81-7163-CB9F-1A78-F49C05F676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3B98DA-CE84-47F3-84A9-71F6FE96E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62055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011273-911D-9D27-544F-89511BB346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FA4935F-C4E4-41D2-B23B-85964AFC81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B3F95A-D51B-DB8F-D893-4C6CA9F73C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6CDE8-C118-489E-BA54-73CDE3A64F8D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6DC02E-7FDE-9AB0-82AE-2B2B67DE27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34D7DE-235A-7013-8782-18FF5B7D50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3B98DA-CE84-47F3-84A9-71F6FE96E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53348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D1E5110-0A76-2C16-9061-D04C9DB59B8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A3451FE-654F-22D9-7B87-0ABCD2584A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09F7DA-DF85-B14E-A69E-DFBEFCE5B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6CDE8-C118-489E-BA54-73CDE3A64F8D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3607C5-2CE8-65A4-6A5F-127D2FF8F6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2C9310-506D-662A-1B73-D76EBEA483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3B98DA-CE84-47F3-84A9-71F6FE96E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43168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57A376-8521-6577-2D07-990054A88E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301D1AD-C5AE-D5D5-8AEB-3CF00915DA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6218E4-0D79-BDF6-8381-F4230E4C16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68321-C9E7-441E-8ECB-F5B48CA38B30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E1445C-3C43-0979-3BC3-3C50A3764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28579E-F99E-72F7-92FC-E65D1F06D8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004913-403C-4409-88C9-C8B79CC53B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412720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1A3A46-966F-0889-0D6C-46EF223F72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90CF1-7AE8-CB01-72A6-3E5EC146CE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C82178-CB10-3C0D-9F26-FF03AA7D10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68321-C9E7-441E-8ECB-F5B48CA38B30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06E56D-AAF0-53B1-2EB3-2B05DB7BE5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A8C5A6-8A41-BFE5-5181-AD86B0150C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004913-403C-4409-88C9-C8B79CC53B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763301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974A1F-F392-185D-224B-A830DD235E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E378F9-DE95-A055-2AC6-E7157142E7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963784-AC7B-9035-BD5F-CA457D8DE7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68321-C9E7-441E-8ECB-F5B48CA38B30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E98C38-8659-E5D3-AA01-9DBE632E3C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2600AF-5C3D-1998-F8D6-2A1AD01958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004913-403C-4409-88C9-C8B79CC53B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028219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10FF7E-5293-08F1-D9A1-3A1680CEE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26F6F1-FDCC-6B3B-E060-DBA64E0B8AD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A695A3E-2804-E8CE-36A7-16F0D67A02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52C1A7-880C-CD35-6519-B44C1C001F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68321-C9E7-441E-8ECB-F5B48CA38B30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87389A-7BA7-00F2-9F0C-3FF625C376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BE9FFEB-E07F-475A-DC43-D784B04934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004913-403C-4409-88C9-C8B79CC53B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163717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C5AF15-66DF-0200-BF84-20E7FCAE16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1C9DF7-FFE2-ACA5-598F-2E8D05F024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81AC6B-6EB4-8880-6CF2-B757060F062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8F57C6A-70C4-5D49-7AA6-6162923068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22BEDBF-9DCC-3C70-9011-CC3E8927C1E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A2DCA26-C658-60E2-1424-45272CAB1A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68321-C9E7-441E-8ECB-F5B48CA38B30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DDD7996-8661-7137-DBB1-48A6E8A73D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4E27E70-8897-E13C-10F1-24FFB6B1B6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004913-403C-4409-88C9-C8B79CC53B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687940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3E71C0-5D8F-1D28-606D-4024F95F39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450D43-A793-90E4-6A35-09A203BFF8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68321-C9E7-441E-8ECB-F5B48CA38B30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3D43902-4D2D-7893-9F50-76AD330273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0BBF6F-A580-C66C-7FD8-0CD6575787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004913-403C-4409-88C9-C8B79CC53B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231290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D9A4C65-793A-0452-3B22-EF9BAA6ABE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68321-C9E7-441E-8ECB-F5B48CA38B30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1B1979F-ACA8-3AB5-9C5B-FFA463C1DF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B4F9D8-209E-4082-0939-7461D157A0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004913-403C-4409-88C9-C8B79CC53B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479448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190A0C-21B5-5B1E-1A71-72C64E1C55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010992-4A91-CA9A-6790-69C97B74CF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D8F628-8009-4622-AD04-87974ADF90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09F7B8-21E1-FDBD-DF34-35B77CC99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68321-C9E7-441E-8ECB-F5B48CA38B30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8FEC55-0B6B-4ADF-137A-EDE9BBC3C8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617AA9-A09D-95A1-845A-002841584F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004913-403C-4409-88C9-C8B79CC53B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028873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91A1C2-1457-BA97-E02B-7478A5F753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C5BB29C-956B-CB9A-82C7-D1A75368EA2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1E78F4-29DC-15C6-EB91-0CB176A9FDD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662D2E-911E-E254-4D20-F879D0105D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68321-C9E7-441E-8ECB-F5B48CA38B30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272F32-771C-2443-DCDF-49353E2801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3AD2F7-6465-65FF-9CBC-7F6BF47056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004913-403C-4409-88C9-C8B79CC53B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712552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923E70-A6AC-9EA6-A861-3E9FAA9E70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B81546D-E49F-3CBD-23CB-6B06B2C4FF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C91AD8-77DA-E023-CE62-8DB5F66E06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68321-C9E7-441E-8ECB-F5B48CA38B30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1C62C2-A50D-B686-F94E-63E71CD7A7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8FBBC1-AC3E-2F70-80F3-F31F052F8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004913-403C-4409-88C9-C8B79CC53B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05356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998C326-4850-1342-F77B-8A9CFA2B50E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017BE1D-65FF-135C-6662-09A7BCF03C1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E94B37-9ED6-9087-1C2A-E654A453F1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68321-C9E7-441E-8ECB-F5B48CA38B30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7920E9-EEE5-167B-DD70-3972F6A3C3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742915-24C5-13A7-5B23-4A192DA246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004913-403C-4409-88C9-C8B79CC53B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10793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6F838F-E86B-9D04-6976-E6456E2030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0159F2-4ECE-8FC9-C3E8-79664C1D7D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9F485D-689A-5FB1-6717-F36FFAB4D59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616CDE8-C118-489E-BA54-73CDE3A64F8D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32459D-B83A-D353-144E-13F514F87DA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109973-0053-7AC7-9DFB-2973310CEF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D3B98DA-CE84-47F3-84A9-71F6FE96E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95364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110354D-51EE-E6D6-CC86-FEEF104B17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6925FF8-2273-6FDB-FD37-C132E518F4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2069AE-095C-7EFB-19E6-EB283355551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9268321-C9E7-441E-8ECB-F5B48CA38B30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A3A893-A31D-AEFC-084A-9F7122082C7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753884-7504-3E14-2818-7885D953221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4004913-403C-4409-88C9-C8B79CC53B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99367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kubernetes.io/docs/concepts/overview/working-with-objects/namespaces/#initial-namespaces" TargetMode="External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fhbilgen/AKSWorkshop/blob/main/src/01Setup/AKS-Quick-Deploy-Bicep.md" TargetMode="External"/><Relationship Id="rId2" Type="http://schemas.openxmlformats.org/officeDocument/2006/relationships/hyperlink" Target="https://github.com/fhbilgen/AKSWorkshop/blob/main/src/01Setup/AKS-Quick-Deploy-CLI.md" TargetMode="External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github.com/fhbilgen/AKSWorkshop/blob/main/src/01Setup/AKS-Quick-Deploy-Terraform.md" TargetMode="Externa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C392AE-673E-92C5-303F-25E8450BD96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AKS Workshop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00EBB44-02B4-0E0C-DADA-EC740183DF9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Faik Hakan Bilgen, </a:t>
            </a:r>
          </a:p>
          <a:p>
            <a:r>
              <a:rPr lang="en-US" dirty="0"/>
              <a:t>Sr. CSA, Microsoft</a:t>
            </a:r>
          </a:p>
        </p:txBody>
      </p:sp>
    </p:spTree>
    <p:extLst>
      <p:ext uri="{BB962C8B-B14F-4D97-AF65-F5344CB8AC3E}">
        <p14:creationId xmlns:p14="http://schemas.microsoft.com/office/powerpoint/2010/main" val="17852838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FFD48BC7-DC40-47DE-87EE-9F4B6ECB9A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 useBgFill="1">
        <p:nvSpPr>
          <p:cNvPr id="28" name="Freeform: Shape 27">
            <a:extLst>
              <a:ext uri="{FF2B5EF4-FFF2-40B4-BE49-F238E27FC236}">
                <a16:creationId xmlns:a16="http://schemas.microsoft.com/office/drawing/2014/main" id="{E502BBC7-2C76-46F3-BC24-5985BC13DB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14425" y="0"/>
            <a:ext cx="9963150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139700" sx="102000" sy="102000" algn="ctr" rotWithShape="0">
              <a:schemeClr val="bg1">
                <a:lumMod val="85000"/>
                <a:alpha val="3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29" name="Freeform: Shape 28">
            <a:extLst>
              <a:ext uri="{FF2B5EF4-FFF2-40B4-BE49-F238E27FC236}">
                <a16:creationId xmlns:a16="http://schemas.microsoft.com/office/drawing/2014/main" id="{C7F28D52-2A5F-4D23-81AE-7CB8B591C7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1664" y="0"/>
            <a:ext cx="9948672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7ABDE96-608C-110E-E9D1-C9B7D2B49B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3" y="1999615"/>
            <a:ext cx="9144000" cy="276402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72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Introduction to AKS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629484E-3792-4B3D-89AD-7C8A1ED0E0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18560" y="5524786"/>
            <a:ext cx="4754880" cy="2743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296840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103C54-94F3-CD0A-69BC-C34C633AB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080"/>
            <a:ext cx="4818888" cy="1481328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0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Azure Kubernetes Service (AKS)</a:t>
            </a:r>
          </a:p>
        </p:txBody>
      </p:sp>
      <p:sp>
        <p:nvSpPr>
          <p:cNvPr id="8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8F4CA8F-FF10-AEE3-BC3E-A64F90A2042F}"/>
              </a:ext>
            </a:extLst>
          </p:cNvPr>
          <p:cNvSpPr txBox="1"/>
          <p:nvPr/>
        </p:nvSpPr>
        <p:spPr>
          <a:xfrm>
            <a:off x="630936" y="2660904"/>
            <a:ext cx="4818888" cy="354787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marL="0" marR="0" lvl="0" indent="-22860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AKS reduces the complexity and operational overhead of managing </a:t>
            </a:r>
          </a:p>
          <a:p>
            <a:pPr marL="0" marR="0" lvl="0" indent="-22860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Kubernetes by offloading much of that responsibility to Azure. </a:t>
            </a:r>
          </a:p>
          <a:p>
            <a:pPr marL="0" marR="0" lvl="0" indent="-22860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0" marR="0" lvl="0" indent="-22860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Azure Kubernetes Service (AKS) is a managed Kubernetes service </a:t>
            </a:r>
          </a:p>
          <a:p>
            <a:pPr marL="0" marR="0" lvl="0" indent="-22860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that you can use to deploy and manage  containerized applications </a:t>
            </a:r>
          </a:p>
          <a:p>
            <a:pPr marL="0" marR="0" lvl="0" indent="-22860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that require high availability, scalability, and portability, and </a:t>
            </a:r>
          </a:p>
          <a:p>
            <a:pPr marL="0" marR="0" lvl="0" indent="-22860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for deploying applications to multiple regions, </a:t>
            </a:r>
          </a:p>
          <a:p>
            <a:pPr marL="0" marR="0" lvl="0" indent="-22860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using open-source tools and integrating with existing DevOps tools.</a:t>
            </a:r>
          </a:p>
        </p:txBody>
      </p:sp>
      <p:pic>
        <p:nvPicPr>
          <p:cNvPr id="4" name="Picture 3" descr="AKS overview graphic">
            <a:extLst>
              <a:ext uri="{FF2B5EF4-FFF2-40B4-BE49-F238E27FC236}">
                <a16:creationId xmlns:a16="http://schemas.microsoft.com/office/drawing/2014/main" id="{943FE01B-8082-F704-5AE6-D2031BBC33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9048" y="1613892"/>
            <a:ext cx="5458968" cy="3630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45346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D35B77F-8050-25C5-75A7-D5FCF5C319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Container Solutions in Azure</a:t>
            </a:r>
          </a:p>
        </p:txBody>
      </p:sp>
      <p:sp>
        <p:nvSpPr>
          <p:cNvPr id="16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sX0" fmla="*/ 0 w 4572000"/>
              <a:gd name="csY0" fmla="*/ 0 h 18288"/>
              <a:gd name="csX1" fmla="*/ 515983 w 4572000"/>
              <a:gd name="csY1" fmla="*/ 0 h 18288"/>
              <a:gd name="csX2" fmla="*/ 1031966 w 4572000"/>
              <a:gd name="csY2" fmla="*/ 0 h 18288"/>
              <a:gd name="csX3" fmla="*/ 1639389 w 4572000"/>
              <a:gd name="csY3" fmla="*/ 0 h 18288"/>
              <a:gd name="csX4" fmla="*/ 2383971 w 4572000"/>
              <a:gd name="csY4" fmla="*/ 0 h 18288"/>
              <a:gd name="csX5" fmla="*/ 2945674 w 4572000"/>
              <a:gd name="csY5" fmla="*/ 0 h 18288"/>
              <a:gd name="csX6" fmla="*/ 3507377 w 4572000"/>
              <a:gd name="csY6" fmla="*/ 0 h 18288"/>
              <a:gd name="csX7" fmla="*/ 4572000 w 4572000"/>
              <a:gd name="csY7" fmla="*/ 0 h 18288"/>
              <a:gd name="csX8" fmla="*/ 4572000 w 4572000"/>
              <a:gd name="csY8" fmla="*/ 18288 h 18288"/>
              <a:gd name="csX9" fmla="*/ 3873137 w 4572000"/>
              <a:gd name="csY9" fmla="*/ 18288 h 18288"/>
              <a:gd name="csX10" fmla="*/ 3311434 w 4572000"/>
              <a:gd name="csY10" fmla="*/ 18288 h 18288"/>
              <a:gd name="csX11" fmla="*/ 2749731 w 4572000"/>
              <a:gd name="csY11" fmla="*/ 18288 h 18288"/>
              <a:gd name="csX12" fmla="*/ 2050869 w 4572000"/>
              <a:gd name="csY12" fmla="*/ 18288 h 18288"/>
              <a:gd name="csX13" fmla="*/ 1306286 w 4572000"/>
              <a:gd name="csY13" fmla="*/ 18288 h 18288"/>
              <a:gd name="csX14" fmla="*/ 790303 w 4572000"/>
              <a:gd name="csY14" fmla="*/ 18288 h 18288"/>
              <a:gd name="csX15" fmla="*/ 0 w 4572000"/>
              <a:gd name="csY15" fmla="*/ 18288 h 18288"/>
              <a:gd name="csX16" fmla="*/ 0 w 4572000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3A0C392-C3D3-2A72-515E-9DE3E1619817}"/>
              </a:ext>
            </a:extLst>
          </p:cNvPr>
          <p:cNvGraphicFramePr>
            <a:graphicFrameLocks noGrp="1"/>
          </p:cNvGraphicFramePr>
          <p:nvPr/>
        </p:nvGraphicFramePr>
        <p:xfrm>
          <a:off x="411068" y="2754889"/>
          <a:ext cx="11366817" cy="3343524"/>
        </p:xfrm>
        <a:graphic>
          <a:graphicData uri="http://schemas.openxmlformats.org/drawingml/2006/table">
            <a:tbl>
              <a:tblPr/>
              <a:tblGrid>
                <a:gridCol w="5209489">
                  <a:extLst>
                    <a:ext uri="{9D8B030D-6E8A-4147-A177-3AD203B41FA5}">
                      <a16:colId xmlns:a16="http://schemas.microsoft.com/office/drawing/2014/main" val="1321913779"/>
                    </a:ext>
                  </a:extLst>
                </a:gridCol>
                <a:gridCol w="6157328">
                  <a:extLst>
                    <a:ext uri="{9D8B030D-6E8A-4147-A177-3AD203B41FA5}">
                      <a16:colId xmlns:a16="http://schemas.microsoft.com/office/drawing/2014/main" val="1008314529"/>
                    </a:ext>
                  </a:extLst>
                </a:gridCol>
              </a:tblGrid>
              <a:tr h="55725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33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Container solution</a:t>
                      </a:r>
                    </a:p>
                  </a:txBody>
                  <a:tcPr marL="11226" marR="11226" marT="1122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33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Resource type</a:t>
                      </a:r>
                    </a:p>
                  </a:txBody>
                  <a:tcPr marL="11226" marR="11226" marT="1122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8305136"/>
                  </a:ext>
                </a:extLst>
              </a:tr>
              <a:tr h="55725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3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Azure Kubernetes Service</a:t>
                      </a:r>
                    </a:p>
                  </a:txBody>
                  <a:tcPr marL="11226" marR="11226" marT="1122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3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Managed Kubernetes</a:t>
                      </a:r>
                    </a:p>
                  </a:txBody>
                  <a:tcPr marL="11226" marR="11226" marT="1122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3908075"/>
                  </a:ext>
                </a:extLst>
              </a:tr>
              <a:tr h="55725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3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Azure Red Hat OpenShift</a:t>
                      </a:r>
                    </a:p>
                  </a:txBody>
                  <a:tcPr marL="11226" marR="11226" marT="1122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3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Managed Kubernetes</a:t>
                      </a:r>
                    </a:p>
                  </a:txBody>
                  <a:tcPr marL="11226" marR="11226" marT="1122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07560591"/>
                  </a:ext>
                </a:extLst>
              </a:tr>
              <a:tr h="55725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3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Azure Arc-enabled Kubernetes</a:t>
                      </a:r>
                    </a:p>
                  </a:txBody>
                  <a:tcPr marL="11226" marR="11226" marT="1122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3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Unmanaged Kubernetes</a:t>
                      </a:r>
                    </a:p>
                  </a:txBody>
                  <a:tcPr marL="11226" marR="11226" marT="1122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3821266"/>
                  </a:ext>
                </a:extLst>
              </a:tr>
              <a:tr h="55725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3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Azure Container Instances</a:t>
                      </a:r>
                    </a:p>
                  </a:txBody>
                  <a:tcPr marL="11226" marR="11226" marT="1122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3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Managed Docker container instance</a:t>
                      </a:r>
                    </a:p>
                  </a:txBody>
                  <a:tcPr marL="11226" marR="11226" marT="1122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3202851"/>
                  </a:ext>
                </a:extLst>
              </a:tr>
              <a:tr h="55725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3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Azure Container Apps</a:t>
                      </a:r>
                    </a:p>
                  </a:txBody>
                  <a:tcPr marL="11226" marR="11226" marT="1122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3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Managed Kubernetes</a:t>
                      </a:r>
                    </a:p>
                  </a:txBody>
                  <a:tcPr marL="11226" marR="11226" marT="1122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133924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387973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DAF1966E-FD40-4A4A-B61B-C4DF7FA05F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047BFA19-D45E-416B-A404-7AF2F3F270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rgbClr val="E1E1E1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8E0105E7-23DB-4CF2-8258-FF47C7620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B46E584-4808-01F1-775C-40CECB2E95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Use Cases for AKS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74B4F7D-14B2-478B-8BF5-01E4E0C5D2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8834" y="758952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3308570-471D-1B6E-AC13-C0EAB77B4E65}"/>
              </a:ext>
            </a:extLst>
          </p:cNvPr>
          <p:cNvSpPr txBox="1"/>
          <p:nvPr/>
        </p:nvSpPr>
        <p:spPr>
          <a:xfrm>
            <a:off x="1115568" y="2481943"/>
            <a:ext cx="10168128" cy="36950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0" marR="0" lvl="0" indent="-22860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Lift and shift to containers with AKS</a:t>
            </a:r>
          </a:p>
          <a:p>
            <a:pPr marL="0" marR="0" lvl="0" indent="-22860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Migrate existing applications to containers and run them in a fully managed Kubernetes environment.</a:t>
            </a:r>
          </a:p>
          <a:p>
            <a:pPr marL="0" marR="0" lvl="0" indent="-22860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Microservices with AKS</a:t>
            </a:r>
          </a:p>
          <a:p>
            <a:pPr marL="0" marR="0" lvl="0" indent="-22860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Simplify the deployment and management of microservices-based applications with streamlined horizontal scaling, </a:t>
            </a:r>
          </a:p>
          <a:p>
            <a:pPr marL="0" marR="0" lvl="0" indent="-22860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self-healing, load balancing, and secret management.</a:t>
            </a:r>
          </a:p>
          <a:p>
            <a:pPr marL="0" marR="0" lvl="0" indent="-22860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Secure DevOps for AKS</a:t>
            </a:r>
          </a:p>
          <a:p>
            <a:pPr marL="0" marR="0" lvl="0" indent="-22860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Efficiently balance speed and security by implementing secure DevOps with Kubernetes.</a:t>
            </a:r>
          </a:p>
          <a:p>
            <a:pPr marL="0" marR="0" lvl="0" indent="-22860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Bursting from AKS with ACI</a:t>
            </a:r>
          </a:p>
          <a:p>
            <a:pPr marL="0" marR="0" lvl="0" indent="-22860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Use virtual nodes to provision pods inside ACI that start in seconds and scale to meet demand.</a:t>
            </a:r>
          </a:p>
          <a:p>
            <a:pPr marL="0" marR="0" lvl="0" indent="-22860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Machine learning model training with AKS</a:t>
            </a:r>
          </a:p>
          <a:p>
            <a:pPr marL="0" marR="0" lvl="0" indent="-22860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Train models using large datasets with familiar tools, such as TensorFlow and Kubeflow.</a:t>
            </a:r>
          </a:p>
          <a:p>
            <a:pPr marL="0" marR="0" lvl="0" indent="-22860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Data streaming with AKS</a:t>
            </a:r>
          </a:p>
          <a:p>
            <a:pPr marL="0" marR="0" lvl="0" indent="-22860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Ingest and process real-time data streams with millions of data points collected via sensors, and </a:t>
            </a:r>
          </a:p>
          <a:p>
            <a:pPr marL="0" marR="0" lvl="0" indent="-22860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perform fast analyses and computations to develop insights into complex scenarios.</a:t>
            </a:r>
          </a:p>
          <a:p>
            <a:pPr marL="0" marR="0" lvl="0" indent="-22860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Using Windows containers on AKS</a:t>
            </a:r>
          </a:p>
          <a:p>
            <a:pPr marL="0" marR="0" lvl="0" indent="-22860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Run Windows Server containers on AKS to modernize your Windows applications and infrastructure.</a:t>
            </a:r>
          </a:p>
        </p:txBody>
      </p:sp>
    </p:spTree>
    <p:extLst>
      <p:ext uri="{BB962C8B-B14F-4D97-AF65-F5344CB8AC3E}">
        <p14:creationId xmlns:p14="http://schemas.microsoft.com/office/powerpoint/2010/main" val="40350113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6D5F3E-3274-A4EA-9184-A474AB901B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4492" y="178050"/>
            <a:ext cx="10515600" cy="1325563"/>
          </a:xfrm>
        </p:spPr>
        <p:txBody>
          <a:bodyPr/>
          <a:lstStyle/>
          <a:p>
            <a:r>
              <a:rPr lang="en-US" dirty="0"/>
              <a:t>Core AKS Concepts</a:t>
            </a:r>
          </a:p>
        </p:txBody>
      </p:sp>
      <p:pic>
        <p:nvPicPr>
          <p:cNvPr id="3" name="Picture 2" descr="Screenshot that shows Kubernetes control plane and node components.">
            <a:extLst>
              <a:ext uri="{FF2B5EF4-FFF2-40B4-BE49-F238E27FC236}">
                <a16:creationId xmlns:a16="http://schemas.microsoft.com/office/drawing/2014/main" id="{20A97B22-892C-F67C-F7CA-236A3374C4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31" y="2588353"/>
            <a:ext cx="7354139" cy="2500483"/>
          </a:xfrm>
          <a:prstGeom prst="rect">
            <a:avLst/>
          </a:prstGeom>
        </p:spPr>
      </p:pic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CC0B21F-3F75-8318-D06A-8F7FA0E4EBDC}"/>
              </a:ext>
            </a:extLst>
          </p:cNvPr>
          <p:cNvGraphicFramePr>
            <a:graphicFrameLocks noGrp="1"/>
          </p:cNvGraphicFramePr>
          <p:nvPr/>
        </p:nvGraphicFramePr>
        <p:xfrm>
          <a:off x="109331" y="5419573"/>
          <a:ext cx="11979994" cy="11519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19222">
                  <a:extLst>
                    <a:ext uri="{9D8B030D-6E8A-4147-A177-3AD203B41FA5}">
                      <a16:colId xmlns:a16="http://schemas.microsoft.com/office/drawing/2014/main" val="485223955"/>
                    </a:ext>
                  </a:extLst>
                </a:gridCol>
                <a:gridCol w="10160772">
                  <a:extLst>
                    <a:ext uri="{9D8B030D-6E8A-4147-A177-3AD203B41FA5}">
                      <a16:colId xmlns:a16="http://schemas.microsoft.com/office/drawing/2014/main" val="151661831"/>
                    </a:ext>
                  </a:extLst>
                </a:gridCol>
              </a:tblGrid>
              <a:tr h="18235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u="none" strike="noStrike">
                          <a:effectLst/>
                        </a:rPr>
                        <a:t>Component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118" marR="9118" marT="91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u="none" strike="noStrike" dirty="0">
                          <a:effectLst/>
                        </a:rPr>
                        <a:t>Description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118" marR="9118" marT="9118" marB="0" anchor="b"/>
                </a:tc>
                <a:extLst>
                  <a:ext uri="{0D108BD9-81ED-4DB2-BD59-A6C34878D82A}">
                    <a16:rowId xmlns:a16="http://schemas.microsoft.com/office/drawing/2014/main" val="1867125782"/>
                  </a:ext>
                </a:extLst>
              </a:tr>
              <a:tr h="18235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u="none" strike="noStrike" dirty="0" err="1">
                          <a:effectLst/>
                        </a:rPr>
                        <a:t>kube-apiserver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118" marR="9118" marT="91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u="none" strike="noStrike" dirty="0">
                          <a:effectLst/>
                        </a:rPr>
                        <a:t>The API server (</a:t>
                      </a:r>
                      <a:r>
                        <a:rPr lang="en-US" sz="1200" u="none" strike="noStrike" dirty="0" err="1">
                          <a:effectLst/>
                        </a:rPr>
                        <a:t>kube-apiserver</a:t>
                      </a:r>
                      <a:r>
                        <a:rPr lang="en-US" sz="1200" u="none" strike="noStrike" dirty="0">
                          <a:effectLst/>
                        </a:rPr>
                        <a:t>) exposes the Kubernetes API to enable requests to the cluster from inside and outside of the cluster.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118" marR="9118" marT="9118" marB="0" anchor="b"/>
                </a:tc>
                <a:extLst>
                  <a:ext uri="{0D108BD9-81ED-4DB2-BD59-A6C34878D82A}">
                    <a16:rowId xmlns:a16="http://schemas.microsoft.com/office/drawing/2014/main" val="389410587"/>
                  </a:ext>
                </a:extLst>
              </a:tr>
              <a:tr h="18235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u="none" strike="noStrike" dirty="0" err="1">
                          <a:effectLst/>
                        </a:rPr>
                        <a:t>etcd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118" marR="9118" marT="91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u="none" strike="noStrike" dirty="0">
                          <a:effectLst/>
                        </a:rPr>
                        <a:t>The highly available key-value store </a:t>
                      </a:r>
                      <a:r>
                        <a:rPr lang="en-US" sz="1200" u="none" strike="noStrike" dirty="0" err="1">
                          <a:effectLst/>
                        </a:rPr>
                        <a:t>etcd</a:t>
                      </a:r>
                      <a:r>
                        <a:rPr lang="en-US" sz="1200" u="none" strike="noStrike" dirty="0">
                          <a:effectLst/>
                        </a:rPr>
                        <a:t> helps to maintain the state of your Kubernetes cluster and configuration.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118" marR="9118" marT="9118" marB="0" anchor="b"/>
                </a:tc>
                <a:extLst>
                  <a:ext uri="{0D108BD9-81ED-4DB2-BD59-A6C34878D82A}">
                    <a16:rowId xmlns:a16="http://schemas.microsoft.com/office/drawing/2014/main" val="3302582193"/>
                  </a:ext>
                </a:extLst>
              </a:tr>
              <a:tr h="18235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u="none" strike="noStrike" dirty="0" err="1">
                          <a:effectLst/>
                        </a:rPr>
                        <a:t>kube</a:t>
                      </a:r>
                      <a:r>
                        <a:rPr lang="en-US" sz="1200" u="none" strike="noStrike" dirty="0">
                          <a:effectLst/>
                        </a:rPr>
                        <a:t>-scheduler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118" marR="9118" marT="91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u="none" strike="noStrike" dirty="0">
                          <a:effectLst/>
                        </a:rPr>
                        <a:t>The scheduler (</a:t>
                      </a:r>
                      <a:r>
                        <a:rPr lang="en-US" sz="1200" u="none" strike="noStrike" dirty="0" err="1">
                          <a:effectLst/>
                        </a:rPr>
                        <a:t>kube</a:t>
                      </a:r>
                      <a:r>
                        <a:rPr lang="en-US" sz="1200" u="none" strike="noStrike" dirty="0">
                          <a:effectLst/>
                        </a:rPr>
                        <a:t>-scheduler) helps to make scheduling decisions. It watches for new pods with no assigned node and selects a node for them to run on.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118" marR="9118" marT="9118" marB="0" anchor="b"/>
                </a:tc>
                <a:extLst>
                  <a:ext uri="{0D108BD9-81ED-4DB2-BD59-A6C34878D82A}">
                    <a16:rowId xmlns:a16="http://schemas.microsoft.com/office/drawing/2014/main" val="1708439964"/>
                  </a:ext>
                </a:extLst>
              </a:tr>
              <a:tr h="18235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u="none" strike="noStrike" dirty="0" err="1">
                          <a:effectLst/>
                        </a:rPr>
                        <a:t>kube</a:t>
                      </a:r>
                      <a:r>
                        <a:rPr lang="en-US" sz="1200" u="none" strike="noStrike" dirty="0">
                          <a:effectLst/>
                        </a:rPr>
                        <a:t>-controller-manager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118" marR="9118" marT="91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u="none" strike="noStrike" dirty="0">
                          <a:effectLst/>
                        </a:rPr>
                        <a:t>The controller manager (</a:t>
                      </a:r>
                      <a:r>
                        <a:rPr lang="en-US" sz="1200" u="none" strike="noStrike" dirty="0" err="1">
                          <a:effectLst/>
                        </a:rPr>
                        <a:t>kube</a:t>
                      </a:r>
                      <a:r>
                        <a:rPr lang="en-US" sz="1200" u="none" strike="noStrike" dirty="0">
                          <a:effectLst/>
                        </a:rPr>
                        <a:t>-controller-manager) runs controller processes, such as noticing and responding when nodes go down.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118" marR="9118" marT="9118" marB="0" anchor="b"/>
                </a:tc>
                <a:extLst>
                  <a:ext uri="{0D108BD9-81ED-4DB2-BD59-A6C34878D82A}">
                    <a16:rowId xmlns:a16="http://schemas.microsoft.com/office/drawing/2014/main" val="3700435068"/>
                  </a:ext>
                </a:extLst>
              </a:tr>
              <a:tr h="18235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u="none" strike="noStrike" dirty="0">
                          <a:effectLst/>
                        </a:rPr>
                        <a:t>cloud-controller-manager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118" marR="9118" marT="91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u="none" strike="noStrike" dirty="0">
                          <a:effectLst/>
                        </a:rPr>
                        <a:t>The cloud controller manager (cloud-controller-manager) embeds cloud-specific control logic to run controllers specific to the cloud provider.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118" marR="9118" marT="9118" marB="0" anchor="b"/>
                </a:tc>
                <a:extLst>
                  <a:ext uri="{0D108BD9-81ED-4DB2-BD59-A6C34878D82A}">
                    <a16:rowId xmlns:a16="http://schemas.microsoft.com/office/drawing/2014/main" val="2842273191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DB5596D-B5EB-4F51-B104-1E68501723E6}"/>
              </a:ext>
            </a:extLst>
          </p:cNvPr>
          <p:cNvGraphicFramePr>
            <a:graphicFrameLocks noGrp="1"/>
          </p:cNvGraphicFramePr>
          <p:nvPr/>
        </p:nvGraphicFramePr>
        <p:xfrm>
          <a:off x="3786400" y="1485433"/>
          <a:ext cx="6142791" cy="7294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60190">
                  <a:extLst>
                    <a:ext uri="{9D8B030D-6E8A-4147-A177-3AD203B41FA5}">
                      <a16:colId xmlns:a16="http://schemas.microsoft.com/office/drawing/2014/main" val="2270962505"/>
                    </a:ext>
                  </a:extLst>
                </a:gridCol>
                <a:gridCol w="4782601">
                  <a:extLst>
                    <a:ext uri="{9D8B030D-6E8A-4147-A177-3AD203B41FA5}">
                      <a16:colId xmlns:a16="http://schemas.microsoft.com/office/drawing/2014/main" val="2286568558"/>
                    </a:ext>
                  </a:extLst>
                </a:gridCol>
              </a:tblGrid>
              <a:tr h="18235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1" u="none" strike="noStrike" dirty="0">
                          <a:effectLst/>
                        </a:rPr>
                        <a:t>Component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118" marR="9118" marT="91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1" u="none" strike="noStrike" dirty="0">
                          <a:effectLst/>
                        </a:rPr>
                        <a:t>Description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118" marR="9118" marT="9118" marB="0" anchor="b"/>
                </a:tc>
                <a:extLst>
                  <a:ext uri="{0D108BD9-81ED-4DB2-BD59-A6C34878D82A}">
                    <a16:rowId xmlns:a16="http://schemas.microsoft.com/office/drawing/2014/main" val="3148962137"/>
                  </a:ext>
                </a:extLst>
              </a:tr>
              <a:tr h="18235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kubelet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118" marR="9118" marT="91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The </a:t>
                      </a:r>
                      <a:r>
                        <a:rPr lang="en-US" sz="1100" u="none" strike="noStrike" dirty="0" err="1">
                          <a:effectLst/>
                        </a:rPr>
                        <a:t>kubelet</a:t>
                      </a:r>
                      <a:r>
                        <a:rPr lang="en-US" sz="1100" u="none" strike="noStrike" dirty="0">
                          <a:effectLst/>
                        </a:rPr>
                        <a:t> ensures that containers are running in a pod.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118" marR="9118" marT="9118" marB="0" anchor="b"/>
                </a:tc>
                <a:extLst>
                  <a:ext uri="{0D108BD9-81ED-4DB2-BD59-A6C34878D82A}">
                    <a16:rowId xmlns:a16="http://schemas.microsoft.com/office/drawing/2014/main" val="1453412865"/>
                  </a:ext>
                </a:extLst>
              </a:tr>
              <a:tr h="18235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kube</a:t>
                      </a:r>
                      <a:r>
                        <a:rPr lang="en-US" sz="1100" u="none" strike="noStrike" dirty="0">
                          <a:effectLst/>
                        </a:rPr>
                        <a:t>-proxy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118" marR="9118" marT="91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The </a:t>
                      </a:r>
                      <a:r>
                        <a:rPr lang="en-US" sz="1100" u="none" strike="noStrike" dirty="0" err="1">
                          <a:effectLst/>
                        </a:rPr>
                        <a:t>kube</a:t>
                      </a:r>
                      <a:r>
                        <a:rPr lang="en-US" sz="1100" u="none" strike="noStrike" dirty="0">
                          <a:effectLst/>
                        </a:rPr>
                        <a:t>-proxy is a network proxy that maintains network rules on nodes.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118" marR="9118" marT="9118" marB="0" anchor="b"/>
                </a:tc>
                <a:extLst>
                  <a:ext uri="{0D108BD9-81ED-4DB2-BD59-A6C34878D82A}">
                    <a16:rowId xmlns:a16="http://schemas.microsoft.com/office/drawing/2014/main" val="4093343171"/>
                  </a:ext>
                </a:extLst>
              </a:tr>
              <a:tr h="18235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container runtime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118" marR="9118" marT="911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The container runtime manages the execution and lifecycle of containers.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118" marR="9118" marT="9118" marB="0" anchor="b"/>
                </a:tc>
                <a:extLst>
                  <a:ext uri="{0D108BD9-81ED-4DB2-BD59-A6C34878D82A}">
                    <a16:rowId xmlns:a16="http://schemas.microsoft.com/office/drawing/2014/main" val="38551809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801686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DF45A25-5BD5-5C37-486F-EBC4ED6DBF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60459FE-BEE7-ADAC-2F0C-F8F045ED36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080"/>
            <a:ext cx="4818888" cy="1481328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0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Core AKS Concepts</a:t>
            </a:r>
          </a:p>
        </p:txBody>
      </p:sp>
      <p:sp>
        <p:nvSpPr>
          <p:cNvPr id="13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2B406BB-5A07-630E-07AF-5332BABEBC3D}"/>
              </a:ext>
            </a:extLst>
          </p:cNvPr>
          <p:cNvSpPr txBox="1"/>
          <p:nvPr/>
        </p:nvSpPr>
        <p:spPr>
          <a:xfrm>
            <a:off x="630936" y="2660904"/>
            <a:ext cx="4818888" cy="354787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marL="285750" marR="0" lvl="0" indent="-22860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VM size and image</a:t>
            </a:r>
          </a:p>
          <a:p>
            <a:pPr marL="285750" marR="0" lvl="0" indent="-22860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OS disks</a:t>
            </a:r>
          </a:p>
          <a:p>
            <a:pPr marL="285750" marR="0" lvl="0" indent="-22860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Resource reservations</a:t>
            </a:r>
          </a:p>
          <a:p>
            <a:pPr marL="285750" marR="0" lvl="0" indent="-22860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OS</a:t>
            </a:r>
          </a:p>
          <a:p>
            <a:pPr marL="285750" marR="0" lvl="0" indent="-22860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Container runtime</a:t>
            </a:r>
          </a:p>
          <a:p>
            <a:pPr marL="285750" marR="0" lvl="0" indent="-22860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Pods</a:t>
            </a:r>
          </a:p>
          <a:p>
            <a:pPr marL="285750" marR="0" lvl="0" indent="-22860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Node pools</a:t>
            </a:r>
          </a:p>
          <a:p>
            <a:pPr marL="285750" marR="0" lvl="0" indent="-22860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Node resource group</a:t>
            </a:r>
          </a:p>
        </p:txBody>
      </p:sp>
      <p:pic>
        <p:nvPicPr>
          <p:cNvPr id="6" name="Picture 5" descr="Screenshot that shows Azure virtual machine and supporting resources for a Kubernetes node.">
            <a:extLst>
              <a:ext uri="{FF2B5EF4-FFF2-40B4-BE49-F238E27FC236}">
                <a16:creationId xmlns:a16="http://schemas.microsoft.com/office/drawing/2014/main" id="{E98C48E4-C6B7-5FFE-60AF-6BF91DD0DD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5642" y="1807331"/>
            <a:ext cx="7112374" cy="3013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58464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048DF1-9D1E-CA48-E822-4EA053E303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1AA174-CE76-67FD-9BE7-BA259A0534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4492" y="178050"/>
            <a:ext cx="10515600" cy="1325563"/>
          </a:xfrm>
        </p:spPr>
        <p:txBody>
          <a:bodyPr/>
          <a:lstStyle/>
          <a:p>
            <a:r>
              <a:rPr lang="en-US" dirty="0"/>
              <a:t>Core AKS Concepts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822E0BD8-4377-0EA0-B4F5-C4AAA074CAE4}"/>
              </a:ext>
            </a:extLst>
          </p:cNvPr>
          <p:cNvGraphicFramePr>
            <a:graphicFrameLocks noGrp="1"/>
          </p:cNvGraphicFramePr>
          <p:nvPr/>
        </p:nvGraphicFramePr>
        <p:xfrm>
          <a:off x="5793840" y="1503614"/>
          <a:ext cx="5944273" cy="3603651"/>
        </p:xfrm>
        <a:graphic>
          <a:graphicData uri="http://schemas.openxmlformats.org/drawingml/2006/table">
            <a:tbl>
              <a:tblPr/>
              <a:tblGrid>
                <a:gridCol w="1284760">
                  <a:extLst>
                    <a:ext uri="{9D8B030D-6E8A-4147-A177-3AD203B41FA5}">
                      <a16:colId xmlns:a16="http://schemas.microsoft.com/office/drawing/2014/main" val="24335307"/>
                    </a:ext>
                  </a:extLst>
                </a:gridCol>
                <a:gridCol w="4659513">
                  <a:extLst>
                    <a:ext uri="{9D8B030D-6E8A-4147-A177-3AD203B41FA5}">
                      <a16:colId xmlns:a16="http://schemas.microsoft.com/office/drawing/2014/main" val="1815111238"/>
                    </a:ext>
                  </a:extLst>
                </a:gridCol>
              </a:tblGrid>
              <a:tr h="213863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300" b="1" dirty="0">
                          <a:effectLst/>
                        </a:rPr>
                        <a:t>Namespace</a:t>
                      </a:r>
                    </a:p>
                  </a:txBody>
                  <a:tcPr marL="63990" marR="63990" marT="31995" marB="31995">
                    <a:lnL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300" b="1" dirty="0">
                          <a:effectLst/>
                        </a:rPr>
                        <a:t>Description</a:t>
                      </a:r>
                    </a:p>
                  </a:txBody>
                  <a:tcPr marL="63990" marR="63990" marT="31995" marB="31995">
                    <a:lnL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6264825"/>
                  </a:ext>
                </a:extLst>
              </a:tr>
              <a:tr h="522116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300" dirty="0">
                          <a:effectLst/>
                          <a:latin typeface="SFMono-Regular"/>
                        </a:rPr>
                        <a:t>default</a:t>
                      </a:r>
                      <a:endParaRPr lang="en-US" sz="1300" dirty="0">
                        <a:effectLst/>
                      </a:endParaRPr>
                    </a:p>
                  </a:txBody>
                  <a:tcPr marL="63990" marR="63990" marT="31995" marB="31995">
                    <a:lnL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300" dirty="0">
                          <a:effectLst/>
                        </a:rPr>
                        <a:t>The </a:t>
                      </a:r>
                      <a:r>
                        <a:rPr lang="en-US" sz="13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hlinkClick r:id="rId2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default</a:t>
                      </a:r>
                      <a:r>
                        <a:rPr lang="en-US" sz="13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</a:t>
                      </a:r>
                      <a:r>
                        <a:rPr lang="en-US" sz="1300" dirty="0">
                          <a:effectLst/>
                        </a:rPr>
                        <a:t>namespace allows you to start using cluster resources without creating a new namespace.</a:t>
                      </a:r>
                    </a:p>
                  </a:txBody>
                  <a:tcPr marL="63990" marR="63990" marT="31995" marB="31995">
                    <a:lnL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8108672"/>
                  </a:ext>
                </a:extLst>
              </a:tr>
              <a:tr h="522116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300" dirty="0" err="1">
                          <a:effectLst/>
                          <a:latin typeface="SFMono-Regular"/>
                        </a:rPr>
                        <a:t>kube</a:t>
                      </a:r>
                      <a:r>
                        <a:rPr lang="en-US" sz="1300" dirty="0">
                          <a:effectLst/>
                          <a:latin typeface="SFMono-Regular"/>
                        </a:rPr>
                        <a:t>-node-lease</a:t>
                      </a:r>
                      <a:endParaRPr lang="en-US" sz="1300" dirty="0">
                        <a:effectLst/>
                      </a:endParaRPr>
                    </a:p>
                  </a:txBody>
                  <a:tcPr marL="63990" marR="63990" marT="31995" marB="31995">
                    <a:lnL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300" dirty="0">
                          <a:effectLst/>
                        </a:rPr>
                        <a:t>The</a:t>
                      </a:r>
                      <a:r>
                        <a:rPr lang="en-US" sz="13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</a:t>
                      </a:r>
                      <a:r>
                        <a:rPr lang="en-US" sz="1300" b="1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hlinkClick r:id="rId2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kube</a:t>
                      </a:r>
                      <a:r>
                        <a:rPr lang="en-US" sz="13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hlinkClick r:id="rId2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-node-lease</a:t>
                      </a:r>
                      <a:r>
                        <a:rPr lang="en-US" sz="13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</a:t>
                      </a:r>
                      <a:r>
                        <a:rPr lang="en-US" sz="1300" dirty="0">
                          <a:effectLst/>
                        </a:rPr>
                        <a:t>namespace enables nodes to communicate their availability to the control plane.</a:t>
                      </a:r>
                    </a:p>
                  </a:txBody>
                  <a:tcPr marL="63990" marR="63990" marT="31995" marB="31995">
                    <a:lnL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6400437"/>
                  </a:ext>
                </a:extLst>
              </a:tr>
              <a:tr h="678750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300">
                          <a:effectLst/>
                          <a:latin typeface="SFMono-Regular"/>
                        </a:rPr>
                        <a:t>kube-public</a:t>
                      </a:r>
                      <a:endParaRPr lang="en-US" sz="1300">
                        <a:effectLst/>
                      </a:endParaRPr>
                    </a:p>
                  </a:txBody>
                  <a:tcPr marL="63990" marR="63990" marT="31995" marB="31995">
                    <a:lnL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300" dirty="0">
                          <a:effectLst/>
                        </a:rPr>
                        <a:t>The</a:t>
                      </a:r>
                      <a:r>
                        <a:rPr lang="en-US" sz="13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</a:t>
                      </a:r>
                      <a:r>
                        <a:rPr lang="en-US" sz="1300" b="1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hlinkClick r:id="rId2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kube</a:t>
                      </a:r>
                      <a:r>
                        <a:rPr lang="en-US" sz="13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hlinkClick r:id="rId2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-public</a:t>
                      </a:r>
                      <a:r>
                        <a:rPr lang="en-US" sz="13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</a:t>
                      </a:r>
                      <a:r>
                        <a:rPr lang="en-US" sz="1300" dirty="0">
                          <a:effectLst/>
                        </a:rPr>
                        <a:t>namespace isn't typically used, but you can use it so that resources are visible across the whole cluster by any user.</a:t>
                      </a:r>
                    </a:p>
                  </a:txBody>
                  <a:tcPr marL="63990" marR="63990" marT="31995" marB="31995">
                    <a:lnL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4192066"/>
                  </a:ext>
                </a:extLst>
              </a:tr>
              <a:tr h="1618559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300" dirty="0" err="1">
                          <a:effectLst/>
                          <a:latin typeface="SFMono-Regular"/>
                        </a:rPr>
                        <a:t>kube</a:t>
                      </a:r>
                      <a:r>
                        <a:rPr lang="en-US" sz="1300" dirty="0">
                          <a:effectLst/>
                          <a:latin typeface="SFMono-Regular"/>
                        </a:rPr>
                        <a:t>-system</a:t>
                      </a:r>
                      <a:endParaRPr lang="en-US" sz="1300" dirty="0">
                        <a:effectLst/>
                      </a:endParaRPr>
                    </a:p>
                  </a:txBody>
                  <a:tcPr marL="63990" marR="63990" marT="31995" marB="31995">
                    <a:lnL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300" dirty="0">
                          <a:effectLst/>
                        </a:rPr>
                        <a:t>The</a:t>
                      </a:r>
                      <a:r>
                        <a:rPr lang="en-US" sz="13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</a:t>
                      </a:r>
                      <a:r>
                        <a:rPr lang="en-US" sz="1300" b="1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hlinkClick r:id="rId2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kube</a:t>
                      </a:r>
                      <a:r>
                        <a:rPr lang="en-US" sz="13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hlinkClick r:id="rId2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-system</a:t>
                      </a:r>
                      <a:r>
                        <a:rPr lang="en-US" sz="13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</a:t>
                      </a:r>
                      <a:r>
                        <a:rPr lang="en-US" sz="1300" dirty="0">
                          <a:effectLst/>
                        </a:rPr>
                        <a:t>namespace is used by Kubernetes to manage cluster resources, such as </a:t>
                      </a:r>
                      <a:r>
                        <a:rPr lang="en-US" sz="1300" dirty="0" err="1">
                          <a:effectLst/>
                          <a:latin typeface="SFMono-Regular"/>
                        </a:rPr>
                        <a:t>coredns</a:t>
                      </a:r>
                      <a:r>
                        <a:rPr lang="en-US" sz="1300" dirty="0">
                          <a:effectLst/>
                        </a:rPr>
                        <a:t>, </a:t>
                      </a:r>
                      <a:r>
                        <a:rPr lang="en-US" sz="1300" dirty="0" err="1">
                          <a:effectLst/>
                          <a:latin typeface="SFMono-Regular"/>
                        </a:rPr>
                        <a:t>konnectivity</a:t>
                      </a:r>
                      <a:r>
                        <a:rPr lang="en-US" sz="1300" dirty="0">
                          <a:effectLst/>
                          <a:latin typeface="SFMono-Regular"/>
                        </a:rPr>
                        <a:t>-agent</a:t>
                      </a:r>
                      <a:r>
                        <a:rPr lang="en-US" sz="1300" dirty="0">
                          <a:effectLst/>
                        </a:rPr>
                        <a:t>, and </a:t>
                      </a:r>
                      <a:r>
                        <a:rPr lang="en-US" sz="1300" dirty="0">
                          <a:effectLst/>
                          <a:latin typeface="SFMono-Regular"/>
                        </a:rPr>
                        <a:t>metrics-server</a:t>
                      </a:r>
                      <a:r>
                        <a:rPr lang="en-US" sz="1300" dirty="0">
                          <a:effectLst/>
                        </a:rPr>
                        <a:t>. It is not recommended to deploy your own applications to this namespace. </a:t>
                      </a:r>
                    </a:p>
                  </a:txBody>
                  <a:tcPr marL="63990" marR="63990" marT="31995" marB="31995">
                    <a:lnL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582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493231"/>
                  </a:ext>
                </a:extLst>
              </a:tr>
            </a:tbl>
          </a:graphicData>
        </a:graphic>
      </p:graphicFrame>
      <p:pic>
        <p:nvPicPr>
          <p:cNvPr id="4" name="Picture 3" descr="Screenshot that shows Kubernetes namespaces to logically divide resources and applications.">
            <a:extLst>
              <a:ext uri="{FF2B5EF4-FFF2-40B4-BE49-F238E27FC236}">
                <a16:creationId xmlns:a16="http://schemas.microsoft.com/office/drawing/2014/main" id="{0DA98881-624A-66E5-F61B-9DADC7570D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459" y="1503613"/>
            <a:ext cx="4678163" cy="35554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78146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FFD48BC7-DC40-47DE-87EE-9F4B6ECB9A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 useBgFill="1">
        <p:nvSpPr>
          <p:cNvPr id="9" name="Freeform: Shape 8">
            <a:extLst>
              <a:ext uri="{FF2B5EF4-FFF2-40B4-BE49-F238E27FC236}">
                <a16:creationId xmlns:a16="http://schemas.microsoft.com/office/drawing/2014/main" id="{E502BBC7-2C76-46F3-BC24-5985BC13DB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14425" y="0"/>
            <a:ext cx="9963150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139700" sx="102000" sy="102000" algn="ctr" rotWithShape="0">
              <a:schemeClr val="bg1">
                <a:lumMod val="85000"/>
                <a:alpha val="3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Freeform: Shape 10">
            <a:extLst>
              <a:ext uri="{FF2B5EF4-FFF2-40B4-BE49-F238E27FC236}">
                <a16:creationId xmlns:a16="http://schemas.microsoft.com/office/drawing/2014/main" id="{C7F28D52-2A5F-4D23-81AE-7CB8B591C7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1664" y="0"/>
            <a:ext cx="9948672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ABE0B89-E77A-F662-6D28-4839F54E21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3" y="1999615"/>
            <a:ext cx="9144000" cy="276402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72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Setting up an AKS Cluster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29484E-3792-4B3D-89AD-7C8A1ED0E0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18560" y="5524786"/>
            <a:ext cx="4754880" cy="2743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26261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93E277-BE1C-BA7B-FEEF-1E72143401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Setup an AKS Cluster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FD693D8-43AF-01A9-189B-5F44377E34A0}"/>
              </a:ext>
            </a:extLst>
          </p:cNvPr>
          <p:cNvGraphicFramePr>
            <a:graphicFrameLocks noGrp="1"/>
          </p:cNvGraphicFramePr>
          <p:nvPr/>
        </p:nvGraphicFramePr>
        <p:xfrm>
          <a:off x="382104" y="1780139"/>
          <a:ext cx="11693939" cy="212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2141">
                  <a:extLst>
                    <a:ext uri="{9D8B030D-6E8A-4147-A177-3AD203B41FA5}">
                      <a16:colId xmlns:a16="http://schemas.microsoft.com/office/drawing/2014/main" val="883490984"/>
                    </a:ext>
                  </a:extLst>
                </a:gridCol>
                <a:gridCol w="9101798">
                  <a:extLst>
                    <a:ext uri="{9D8B030D-6E8A-4147-A177-3AD203B41FA5}">
                      <a16:colId xmlns:a16="http://schemas.microsoft.com/office/drawing/2014/main" val="220342777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Method of set 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Setup Guidance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62489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Via Azure Portal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17463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Using Azure CLI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hlinkClick r:id="rId2"/>
                        </a:rPr>
                        <a:t>AKSWorkshop/src/01Setup/AKS-Quick-Deploy-CLI.md at main · </a:t>
                      </a:r>
                      <a:r>
                        <a:rPr lang="en-US" sz="1800" dirty="0" err="1">
                          <a:hlinkClick r:id="rId2"/>
                        </a:rPr>
                        <a:t>fhbilgen</a:t>
                      </a:r>
                      <a:r>
                        <a:rPr lang="en-US" sz="1800" dirty="0">
                          <a:hlinkClick r:id="rId2"/>
                        </a:rPr>
                        <a:t>/</a:t>
                      </a:r>
                      <a:r>
                        <a:rPr lang="en-US" sz="1800" dirty="0" err="1">
                          <a:hlinkClick r:id="rId2"/>
                        </a:rPr>
                        <a:t>AKSWorkshop</a:t>
                      </a:r>
                      <a:endParaRPr 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80871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Using Bicep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hlinkClick r:id="rId3"/>
                        </a:rPr>
                        <a:t>AKSWorkshop/src/01Setup/AKS-Quick-Deploy-Bicep.md at main · </a:t>
                      </a:r>
                      <a:r>
                        <a:rPr lang="en-US" dirty="0" err="1">
                          <a:hlinkClick r:id="rId3"/>
                        </a:rPr>
                        <a:t>fhbilgen</a:t>
                      </a:r>
                      <a:r>
                        <a:rPr lang="en-US" dirty="0">
                          <a:hlinkClick r:id="rId3"/>
                        </a:rPr>
                        <a:t>/</a:t>
                      </a:r>
                      <a:r>
                        <a:rPr lang="en-US" dirty="0" err="1">
                          <a:hlinkClick r:id="rId3"/>
                        </a:rPr>
                        <a:t>AKSWorkshop</a:t>
                      </a:r>
                      <a:endParaRPr 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5036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Using Terraform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hlinkClick r:id="rId4"/>
                        </a:rPr>
                        <a:t>AKSWorkshop/src/01Setup/AKS-Quick-Deploy-Terraform.md at main · </a:t>
                      </a:r>
                      <a:r>
                        <a:rPr lang="en-US" dirty="0" err="1">
                          <a:hlinkClick r:id="rId4"/>
                        </a:rPr>
                        <a:t>fhbilgen</a:t>
                      </a:r>
                      <a:r>
                        <a:rPr lang="en-US" dirty="0">
                          <a:hlinkClick r:id="rId4"/>
                        </a:rPr>
                        <a:t>/</a:t>
                      </a:r>
                      <a:r>
                        <a:rPr lang="en-US" dirty="0" err="1">
                          <a:hlinkClick r:id="rId4"/>
                        </a:rPr>
                        <a:t>AKSWorkshop</a:t>
                      </a:r>
                      <a:endParaRPr 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31697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746075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43CAA20-3569-4189-9E48-239A229A86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2B108BA-CE66-2908-88CD-284D3F5549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51381"/>
            <a:ext cx="10512552" cy="406654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DEMO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E0EBD9-543C-DF01-01FB-1287132025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4983276"/>
            <a:ext cx="10512552" cy="1126680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buNone/>
            </a:pPr>
            <a:r>
              <a:rPr lang="en-US" sz="24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Setup AKS via Azure Portal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A542B6D-E775-4832-91DC-2D20F85781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200" y="4718595"/>
            <a:ext cx="5410200" cy="18288"/>
          </a:xfrm>
          <a:custGeom>
            <a:avLst/>
            <a:gdLst>
              <a:gd name="csX0" fmla="*/ 0 w 5410200"/>
              <a:gd name="csY0" fmla="*/ 0 h 18288"/>
              <a:gd name="csX1" fmla="*/ 568071 w 5410200"/>
              <a:gd name="csY1" fmla="*/ 0 h 18288"/>
              <a:gd name="csX2" fmla="*/ 1298448 w 5410200"/>
              <a:gd name="csY2" fmla="*/ 0 h 18288"/>
              <a:gd name="csX3" fmla="*/ 1920621 w 5410200"/>
              <a:gd name="csY3" fmla="*/ 0 h 18288"/>
              <a:gd name="csX4" fmla="*/ 2488692 w 5410200"/>
              <a:gd name="csY4" fmla="*/ 0 h 18288"/>
              <a:gd name="csX5" fmla="*/ 3219069 w 5410200"/>
              <a:gd name="csY5" fmla="*/ 0 h 18288"/>
              <a:gd name="csX6" fmla="*/ 3895344 w 5410200"/>
              <a:gd name="csY6" fmla="*/ 0 h 18288"/>
              <a:gd name="csX7" fmla="*/ 4571619 w 5410200"/>
              <a:gd name="csY7" fmla="*/ 0 h 18288"/>
              <a:gd name="csX8" fmla="*/ 5410200 w 5410200"/>
              <a:gd name="csY8" fmla="*/ 0 h 18288"/>
              <a:gd name="csX9" fmla="*/ 5410200 w 5410200"/>
              <a:gd name="csY9" fmla="*/ 18288 h 18288"/>
              <a:gd name="csX10" fmla="*/ 4842129 w 5410200"/>
              <a:gd name="csY10" fmla="*/ 18288 h 18288"/>
              <a:gd name="csX11" fmla="*/ 4328160 w 5410200"/>
              <a:gd name="csY11" fmla="*/ 18288 h 18288"/>
              <a:gd name="csX12" fmla="*/ 3597783 w 5410200"/>
              <a:gd name="csY12" fmla="*/ 18288 h 18288"/>
              <a:gd name="csX13" fmla="*/ 3029712 w 5410200"/>
              <a:gd name="csY13" fmla="*/ 18288 h 18288"/>
              <a:gd name="csX14" fmla="*/ 2299335 w 5410200"/>
              <a:gd name="csY14" fmla="*/ 18288 h 18288"/>
              <a:gd name="csX15" fmla="*/ 1514856 w 5410200"/>
              <a:gd name="csY15" fmla="*/ 18288 h 18288"/>
              <a:gd name="csX16" fmla="*/ 892683 w 5410200"/>
              <a:gd name="csY16" fmla="*/ 18288 h 18288"/>
              <a:gd name="csX17" fmla="*/ 0 w 5410200"/>
              <a:gd name="csY17" fmla="*/ 18288 h 18288"/>
              <a:gd name="csX18" fmla="*/ 0 w 5410200"/>
              <a:gd name="csY18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</a:cxnLst>
            <a:rect l="l" t="t" r="r" b="b"/>
            <a:pathLst>
              <a:path w="5410200" h="18288" fill="none" extrusionOk="0">
                <a:moveTo>
                  <a:pt x="0" y="0"/>
                </a:moveTo>
                <a:cubicBezTo>
                  <a:pt x="163050" y="-18707"/>
                  <a:pt x="319321" y="-16364"/>
                  <a:pt x="568071" y="0"/>
                </a:cubicBezTo>
                <a:cubicBezTo>
                  <a:pt x="816821" y="16364"/>
                  <a:pt x="1013224" y="-7268"/>
                  <a:pt x="1298448" y="0"/>
                </a:cubicBezTo>
                <a:cubicBezTo>
                  <a:pt x="1583672" y="7268"/>
                  <a:pt x="1631711" y="-3367"/>
                  <a:pt x="1920621" y="0"/>
                </a:cubicBezTo>
                <a:cubicBezTo>
                  <a:pt x="2209531" y="3367"/>
                  <a:pt x="2364420" y="-19184"/>
                  <a:pt x="2488692" y="0"/>
                </a:cubicBezTo>
                <a:cubicBezTo>
                  <a:pt x="2612964" y="19184"/>
                  <a:pt x="3023298" y="-34627"/>
                  <a:pt x="3219069" y="0"/>
                </a:cubicBezTo>
                <a:cubicBezTo>
                  <a:pt x="3414840" y="34627"/>
                  <a:pt x="3656810" y="24043"/>
                  <a:pt x="3895344" y="0"/>
                </a:cubicBezTo>
                <a:cubicBezTo>
                  <a:pt x="4133879" y="-24043"/>
                  <a:pt x="4393984" y="-19577"/>
                  <a:pt x="4571619" y="0"/>
                </a:cubicBezTo>
                <a:cubicBezTo>
                  <a:pt x="4749255" y="19577"/>
                  <a:pt x="5179928" y="-6281"/>
                  <a:pt x="5410200" y="0"/>
                </a:cubicBezTo>
                <a:cubicBezTo>
                  <a:pt x="5410730" y="6954"/>
                  <a:pt x="5410934" y="12839"/>
                  <a:pt x="5410200" y="18288"/>
                </a:cubicBezTo>
                <a:cubicBezTo>
                  <a:pt x="5139060" y="6751"/>
                  <a:pt x="5121593" y="31035"/>
                  <a:pt x="4842129" y="18288"/>
                </a:cubicBezTo>
                <a:cubicBezTo>
                  <a:pt x="4562665" y="5541"/>
                  <a:pt x="4448273" y="9487"/>
                  <a:pt x="4328160" y="18288"/>
                </a:cubicBezTo>
                <a:cubicBezTo>
                  <a:pt x="4208047" y="27089"/>
                  <a:pt x="3760936" y="22567"/>
                  <a:pt x="3597783" y="18288"/>
                </a:cubicBezTo>
                <a:cubicBezTo>
                  <a:pt x="3434630" y="14009"/>
                  <a:pt x="3299718" y="33213"/>
                  <a:pt x="3029712" y="18288"/>
                </a:cubicBezTo>
                <a:cubicBezTo>
                  <a:pt x="2759706" y="3363"/>
                  <a:pt x="2640159" y="27394"/>
                  <a:pt x="2299335" y="18288"/>
                </a:cubicBezTo>
                <a:cubicBezTo>
                  <a:pt x="1958511" y="9182"/>
                  <a:pt x="1801186" y="28985"/>
                  <a:pt x="1514856" y="18288"/>
                </a:cubicBezTo>
                <a:cubicBezTo>
                  <a:pt x="1228526" y="7591"/>
                  <a:pt x="1063509" y="-5305"/>
                  <a:pt x="892683" y="18288"/>
                </a:cubicBezTo>
                <a:cubicBezTo>
                  <a:pt x="721857" y="41881"/>
                  <a:pt x="186945" y="-20897"/>
                  <a:pt x="0" y="18288"/>
                </a:cubicBezTo>
                <a:cubicBezTo>
                  <a:pt x="-570" y="9279"/>
                  <a:pt x="132" y="5100"/>
                  <a:pt x="0" y="0"/>
                </a:cubicBezTo>
                <a:close/>
              </a:path>
              <a:path w="5410200" h="18288" stroke="0" extrusionOk="0">
                <a:moveTo>
                  <a:pt x="0" y="0"/>
                </a:moveTo>
                <a:cubicBezTo>
                  <a:pt x="285096" y="-4925"/>
                  <a:pt x="376456" y="22268"/>
                  <a:pt x="622173" y="0"/>
                </a:cubicBezTo>
                <a:cubicBezTo>
                  <a:pt x="867890" y="-22268"/>
                  <a:pt x="1031392" y="7228"/>
                  <a:pt x="1136142" y="0"/>
                </a:cubicBezTo>
                <a:cubicBezTo>
                  <a:pt x="1240892" y="-7228"/>
                  <a:pt x="1561853" y="9877"/>
                  <a:pt x="1920621" y="0"/>
                </a:cubicBezTo>
                <a:cubicBezTo>
                  <a:pt x="2279389" y="-9877"/>
                  <a:pt x="2367255" y="19546"/>
                  <a:pt x="2542794" y="0"/>
                </a:cubicBezTo>
                <a:cubicBezTo>
                  <a:pt x="2718333" y="-19546"/>
                  <a:pt x="2866732" y="-22226"/>
                  <a:pt x="3164967" y="0"/>
                </a:cubicBezTo>
                <a:cubicBezTo>
                  <a:pt x="3463202" y="22226"/>
                  <a:pt x="3568055" y="-2765"/>
                  <a:pt x="3949446" y="0"/>
                </a:cubicBezTo>
                <a:cubicBezTo>
                  <a:pt x="4330837" y="2765"/>
                  <a:pt x="4287895" y="10557"/>
                  <a:pt x="4517517" y="0"/>
                </a:cubicBezTo>
                <a:cubicBezTo>
                  <a:pt x="4747139" y="-10557"/>
                  <a:pt x="5149588" y="8716"/>
                  <a:pt x="5410200" y="0"/>
                </a:cubicBezTo>
                <a:cubicBezTo>
                  <a:pt x="5409517" y="5414"/>
                  <a:pt x="5409480" y="12510"/>
                  <a:pt x="5410200" y="18288"/>
                </a:cubicBezTo>
                <a:cubicBezTo>
                  <a:pt x="5163327" y="41494"/>
                  <a:pt x="5008749" y="10693"/>
                  <a:pt x="4842129" y="18288"/>
                </a:cubicBezTo>
                <a:cubicBezTo>
                  <a:pt x="4675509" y="25883"/>
                  <a:pt x="4433401" y="-615"/>
                  <a:pt x="4165854" y="18288"/>
                </a:cubicBezTo>
                <a:cubicBezTo>
                  <a:pt x="3898308" y="37191"/>
                  <a:pt x="3809032" y="-8710"/>
                  <a:pt x="3543681" y="18288"/>
                </a:cubicBezTo>
                <a:cubicBezTo>
                  <a:pt x="3278330" y="45286"/>
                  <a:pt x="3073876" y="-15917"/>
                  <a:pt x="2759202" y="18288"/>
                </a:cubicBezTo>
                <a:cubicBezTo>
                  <a:pt x="2444528" y="52493"/>
                  <a:pt x="2204144" y="3372"/>
                  <a:pt x="1974723" y="18288"/>
                </a:cubicBezTo>
                <a:cubicBezTo>
                  <a:pt x="1745302" y="33204"/>
                  <a:pt x="1602335" y="31490"/>
                  <a:pt x="1406652" y="18288"/>
                </a:cubicBezTo>
                <a:cubicBezTo>
                  <a:pt x="1210969" y="5086"/>
                  <a:pt x="923948" y="3161"/>
                  <a:pt x="730377" y="18288"/>
                </a:cubicBezTo>
                <a:cubicBezTo>
                  <a:pt x="536806" y="33415"/>
                  <a:pt x="336496" y="-141"/>
                  <a:pt x="0" y="18288"/>
                </a:cubicBezTo>
                <a:cubicBezTo>
                  <a:pt x="-306" y="11061"/>
                  <a:pt x="-655" y="775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407440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595415-F8A2-925F-347D-5802783954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0A6A85A-3898-8708-DA50-4786E3098B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4679508-4C8E-F361-73C8-7DCC085C39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51381"/>
            <a:ext cx="10512552" cy="406654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DEMO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C14E64-C23E-2075-52F8-52D570FF7C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4983276"/>
            <a:ext cx="10512552" cy="1126680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buNone/>
            </a:pPr>
            <a:r>
              <a:rPr lang="en-US" sz="2400" dirty="0"/>
              <a:t>Setup AKS using Azure CLI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3B67ECE3-4667-A7F1-7E15-6358AAEF59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200" y="4718595"/>
            <a:ext cx="5410200" cy="18288"/>
          </a:xfrm>
          <a:custGeom>
            <a:avLst/>
            <a:gdLst>
              <a:gd name="csX0" fmla="*/ 0 w 5410200"/>
              <a:gd name="csY0" fmla="*/ 0 h 18288"/>
              <a:gd name="csX1" fmla="*/ 568071 w 5410200"/>
              <a:gd name="csY1" fmla="*/ 0 h 18288"/>
              <a:gd name="csX2" fmla="*/ 1298448 w 5410200"/>
              <a:gd name="csY2" fmla="*/ 0 h 18288"/>
              <a:gd name="csX3" fmla="*/ 1920621 w 5410200"/>
              <a:gd name="csY3" fmla="*/ 0 h 18288"/>
              <a:gd name="csX4" fmla="*/ 2488692 w 5410200"/>
              <a:gd name="csY4" fmla="*/ 0 h 18288"/>
              <a:gd name="csX5" fmla="*/ 3219069 w 5410200"/>
              <a:gd name="csY5" fmla="*/ 0 h 18288"/>
              <a:gd name="csX6" fmla="*/ 3895344 w 5410200"/>
              <a:gd name="csY6" fmla="*/ 0 h 18288"/>
              <a:gd name="csX7" fmla="*/ 4571619 w 5410200"/>
              <a:gd name="csY7" fmla="*/ 0 h 18288"/>
              <a:gd name="csX8" fmla="*/ 5410200 w 5410200"/>
              <a:gd name="csY8" fmla="*/ 0 h 18288"/>
              <a:gd name="csX9" fmla="*/ 5410200 w 5410200"/>
              <a:gd name="csY9" fmla="*/ 18288 h 18288"/>
              <a:gd name="csX10" fmla="*/ 4842129 w 5410200"/>
              <a:gd name="csY10" fmla="*/ 18288 h 18288"/>
              <a:gd name="csX11" fmla="*/ 4328160 w 5410200"/>
              <a:gd name="csY11" fmla="*/ 18288 h 18288"/>
              <a:gd name="csX12" fmla="*/ 3597783 w 5410200"/>
              <a:gd name="csY12" fmla="*/ 18288 h 18288"/>
              <a:gd name="csX13" fmla="*/ 3029712 w 5410200"/>
              <a:gd name="csY13" fmla="*/ 18288 h 18288"/>
              <a:gd name="csX14" fmla="*/ 2299335 w 5410200"/>
              <a:gd name="csY14" fmla="*/ 18288 h 18288"/>
              <a:gd name="csX15" fmla="*/ 1514856 w 5410200"/>
              <a:gd name="csY15" fmla="*/ 18288 h 18288"/>
              <a:gd name="csX16" fmla="*/ 892683 w 5410200"/>
              <a:gd name="csY16" fmla="*/ 18288 h 18288"/>
              <a:gd name="csX17" fmla="*/ 0 w 5410200"/>
              <a:gd name="csY17" fmla="*/ 18288 h 18288"/>
              <a:gd name="csX18" fmla="*/ 0 w 5410200"/>
              <a:gd name="csY18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</a:cxnLst>
            <a:rect l="l" t="t" r="r" b="b"/>
            <a:pathLst>
              <a:path w="5410200" h="18288" fill="none" extrusionOk="0">
                <a:moveTo>
                  <a:pt x="0" y="0"/>
                </a:moveTo>
                <a:cubicBezTo>
                  <a:pt x="163050" y="-18707"/>
                  <a:pt x="319321" y="-16364"/>
                  <a:pt x="568071" y="0"/>
                </a:cubicBezTo>
                <a:cubicBezTo>
                  <a:pt x="816821" y="16364"/>
                  <a:pt x="1013224" y="-7268"/>
                  <a:pt x="1298448" y="0"/>
                </a:cubicBezTo>
                <a:cubicBezTo>
                  <a:pt x="1583672" y="7268"/>
                  <a:pt x="1631711" y="-3367"/>
                  <a:pt x="1920621" y="0"/>
                </a:cubicBezTo>
                <a:cubicBezTo>
                  <a:pt x="2209531" y="3367"/>
                  <a:pt x="2364420" y="-19184"/>
                  <a:pt x="2488692" y="0"/>
                </a:cubicBezTo>
                <a:cubicBezTo>
                  <a:pt x="2612964" y="19184"/>
                  <a:pt x="3023298" y="-34627"/>
                  <a:pt x="3219069" y="0"/>
                </a:cubicBezTo>
                <a:cubicBezTo>
                  <a:pt x="3414840" y="34627"/>
                  <a:pt x="3656810" y="24043"/>
                  <a:pt x="3895344" y="0"/>
                </a:cubicBezTo>
                <a:cubicBezTo>
                  <a:pt x="4133879" y="-24043"/>
                  <a:pt x="4393984" y="-19577"/>
                  <a:pt x="4571619" y="0"/>
                </a:cubicBezTo>
                <a:cubicBezTo>
                  <a:pt x="4749255" y="19577"/>
                  <a:pt x="5179928" y="-6281"/>
                  <a:pt x="5410200" y="0"/>
                </a:cubicBezTo>
                <a:cubicBezTo>
                  <a:pt x="5410730" y="6954"/>
                  <a:pt x="5410934" y="12839"/>
                  <a:pt x="5410200" y="18288"/>
                </a:cubicBezTo>
                <a:cubicBezTo>
                  <a:pt x="5139060" y="6751"/>
                  <a:pt x="5121593" y="31035"/>
                  <a:pt x="4842129" y="18288"/>
                </a:cubicBezTo>
                <a:cubicBezTo>
                  <a:pt x="4562665" y="5541"/>
                  <a:pt x="4448273" y="9487"/>
                  <a:pt x="4328160" y="18288"/>
                </a:cubicBezTo>
                <a:cubicBezTo>
                  <a:pt x="4208047" y="27089"/>
                  <a:pt x="3760936" y="22567"/>
                  <a:pt x="3597783" y="18288"/>
                </a:cubicBezTo>
                <a:cubicBezTo>
                  <a:pt x="3434630" y="14009"/>
                  <a:pt x="3299718" y="33213"/>
                  <a:pt x="3029712" y="18288"/>
                </a:cubicBezTo>
                <a:cubicBezTo>
                  <a:pt x="2759706" y="3363"/>
                  <a:pt x="2640159" y="27394"/>
                  <a:pt x="2299335" y="18288"/>
                </a:cubicBezTo>
                <a:cubicBezTo>
                  <a:pt x="1958511" y="9182"/>
                  <a:pt x="1801186" y="28985"/>
                  <a:pt x="1514856" y="18288"/>
                </a:cubicBezTo>
                <a:cubicBezTo>
                  <a:pt x="1228526" y="7591"/>
                  <a:pt x="1063509" y="-5305"/>
                  <a:pt x="892683" y="18288"/>
                </a:cubicBezTo>
                <a:cubicBezTo>
                  <a:pt x="721857" y="41881"/>
                  <a:pt x="186945" y="-20897"/>
                  <a:pt x="0" y="18288"/>
                </a:cubicBezTo>
                <a:cubicBezTo>
                  <a:pt x="-570" y="9279"/>
                  <a:pt x="132" y="5100"/>
                  <a:pt x="0" y="0"/>
                </a:cubicBezTo>
                <a:close/>
              </a:path>
              <a:path w="5410200" h="18288" stroke="0" extrusionOk="0">
                <a:moveTo>
                  <a:pt x="0" y="0"/>
                </a:moveTo>
                <a:cubicBezTo>
                  <a:pt x="285096" y="-4925"/>
                  <a:pt x="376456" y="22268"/>
                  <a:pt x="622173" y="0"/>
                </a:cubicBezTo>
                <a:cubicBezTo>
                  <a:pt x="867890" y="-22268"/>
                  <a:pt x="1031392" y="7228"/>
                  <a:pt x="1136142" y="0"/>
                </a:cubicBezTo>
                <a:cubicBezTo>
                  <a:pt x="1240892" y="-7228"/>
                  <a:pt x="1561853" y="9877"/>
                  <a:pt x="1920621" y="0"/>
                </a:cubicBezTo>
                <a:cubicBezTo>
                  <a:pt x="2279389" y="-9877"/>
                  <a:pt x="2367255" y="19546"/>
                  <a:pt x="2542794" y="0"/>
                </a:cubicBezTo>
                <a:cubicBezTo>
                  <a:pt x="2718333" y="-19546"/>
                  <a:pt x="2866732" y="-22226"/>
                  <a:pt x="3164967" y="0"/>
                </a:cubicBezTo>
                <a:cubicBezTo>
                  <a:pt x="3463202" y="22226"/>
                  <a:pt x="3568055" y="-2765"/>
                  <a:pt x="3949446" y="0"/>
                </a:cubicBezTo>
                <a:cubicBezTo>
                  <a:pt x="4330837" y="2765"/>
                  <a:pt x="4287895" y="10557"/>
                  <a:pt x="4517517" y="0"/>
                </a:cubicBezTo>
                <a:cubicBezTo>
                  <a:pt x="4747139" y="-10557"/>
                  <a:pt x="5149588" y="8716"/>
                  <a:pt x="5410200" y="0"/>
                </a:cubicBezTo>
                <a:cubicBezTo>
                  <a:pt x="5409517" y="5414"/>
                  <a:pt x="5409480" y="12510"/>
                  <a:pt x="5410200" y="18288"/>
                </a:cubicBezTo>
                <a:cubicBezTo>
                  <a:pt x="5163327" y="41494"/>
                  <a:pt x="5008749" y="10693"/>
                  <a:pt x="4842129" y="18288"/>
                </a:cubicBezTo>
                <a:cubicBezTo>
                  <a:pt x="4675509" y="25883"/>
                  <a:pt x="4433401" y="-615"/>
                  <a:pt x="4165854" y="18288"/>
                </a:cubicBezTo>
                <a:cubicBezTo>
                  <a:pt x="3898308" y="37191"/>
                  <a:pt x="3809032" y="-8710"/>
                  <a:pt x="3543681" y="18288"/>
                </a:cubicBezTo>
                <a:cubicBezTo>
                  <a:pt x="3278330" y="45286"/>
                  <a:pt x="3073876" y="-15917"/>
                  <a:pt x="2759202" y="18288"/>
                </a:cubicBezTo>
                <a:cubicBezTo>
                  <a:pt x="2444528" y="52493"/>
                  <a:pt x="2204144" y="3372"/>
                  <a:pt x="1974723" y="18288"/>
                </a:cubicBezTo>
                <a:cubicBezTo>
                  <a:pt x="1745302" y="33204"/>
                  <a:pt x="1602335" y="31490"/>
                  <a:pt x="1406652" y="18288"/>
                </a:cubicBezTo>
                <a:cubicBezTo>
                  <a:pt x="1210969" y="5086"/>
                  <a:pt x="923948" y="3161"/>
                  <a:pt x="730377" y="18288"/>
                </a:cubicBezTo>
                <a:cubicBezTo>
                  <a:pt x="536806" y="33415"/>
                  <a:pt x="336496" y="-141"/>
                  <a:pt x="0" y="18288"/>
                </a:cubicBezTo>
                <a:cubicBezTo>
                  <a:pt x="-306" y="11061"/>
                  <a:pt x="-655" y="775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71852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07F6FB-E2C5-FC5B-EA70-E1697F407F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B269875-6B9C-B0EE-11F0-B1406B07FB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9F2952-DD93-2955-E209-FA36DA03B9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51381"/>
            <a:ext cx="10512552" cy="406654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DEMO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2E0EC7-9B64-8CAC-6EF7-261DF94CD8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4983276"/>
            <a:ext cx="10512552" cy="1126680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buNone/>
            </a:pPr>
            <a:r>
              <a:rPr lang="en-US" sz="2400" dirty="0"/>
              <a:t>Setup AKS using Bicep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7CF8C58A-B38E-DC8A-F346-56B781DDC2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200" y="4718595"/>
            <a:ext cx="5410200" cy="18288"/>
          </a:xfrm>
          <a:custGeom>
            <a:avLst/>
            <a:gdLst>
              <a:gd name="csX0" fmla="*/ 0 w 5410200"/>
              <a:gd name="csY0" fmla="*/ 0 h 18288"/>
              <a:gd name="csX1" fmla="*/ 568071 w 5410200"/>
              <a:gd name="csY1" fmla="*/ 0 h 18288"/>
              <a:gd name="csX2" fmla="*/ 1298448 w 5410200"/>
              <a:gd name="csY2" fmla="*/ 0 h 18288"/>
              <a:gd name="csX3" fmla="*/ 1920621 w 5410200"/>
              <a:gd name="csY3" fmla="*/ 0 h 18288"/>
              <a:gd name="csX4" fmla="*/ 2488692 w 5410200"/>
              <a:gd name="csY4" fmla="*/ 0 h 18288"/>
              <a:gd name="csX5" fmla="*/ 3219069 w 5410200"/>
              <a:gd name="csY5" fmla="*/ 0 h 18288"/>
              <a:gd name="csX6" fmla="*/ 3895344 w 5410200"/>
              <a:gd name="csY6" fmla="*/ 0 h 18288"/>
              <a:gd name="csX7" fmla="*/ 4571619 w 5410200"/>
              <a:gd name="csY7" fmla="*/ 0 h 18288"/>
              <a:gd name="csX8" fmla="*/ 5410200 w 5410200"/>
              <a:gd name="csY8" fmla="*/ 0 h 18288"/>
              <a:gd name="csX9" fmla="*/ 5410200 w 5410200"/>
              <a:gd name="csY9" fmla="*/ 18288 h 18288"/>
              <a:gd name="csX10" fmla="*/ 4842129 w 5410200"/>
              <a:gd name="csY10" fmla="*/ 18288 h 18288"/>
              <a:gd name="csX11" fmla="*/ 4328160 w 5410200"/>
              <a:gd name="csY11" fmla="*/ 18288 h 18288"/>
              <a:gd name="csX12" fmla="*/ 3597783 w 5410200"/>
              <a:gd name="csY12" fmla="*/ 18288 h 18288"/>
              <a:gd name="csX13" fmla="*/ 3029712 w 5410200"/>
              <a:gd name="csY13" fmla="*/ 18288 h 18288"/>
              <a:gd name="csX14" fmla="*/ 2299335 w 5410200"/>
              <a:gd name="csY14" fmla="*/ 18288 h 18288"/>
              <a:gd name="csX15" fmla="*/ 1514856 w 5410200"/>
              <a:gd name="csY15" fmla="*/ 18288 h 18288"/>
              <a:gd name="csX16" fmla="*/ 892683 w 5410200"/>
              <a:gd name="csY16" fmla="*/ 18288 h 18288"/>
              <a:gd name="csX17" fmla="*/ 0 w 5410200"/>
              <a:gd name="csY17" fmla="*/ 18288 h 18288"/>
              <a:gd name="csX18" fmla="*/ 0 w 5410200"/>
              <a:gd name="csY18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</a:cxnLst>
            <a:rect l="l" t="t" r="r" b="b"/>
            <a:pathLst>
              <a:path w="5410200" h="18288" fill="none" extrusionOk="0">
                <a:moveTo>
                  <a:pt x="0" y="0"/>
                </a:moveTo>
                <a:cubicBezTo>
                  <a:pt x="163050" y="-18707"/>
                  <a:pt x="319321" y="-16364"/>
                  <a:pt x="568071" y="0"/>
                </a:cubicBezTo>
                <a:cubicBezTo>
                  <a:pt x="816821" y="16364"/>
                  <a:pt x="1013224" y="-7268"/>
                  <a:pt x="1298448" y="0"/>
                </a:cubicBezTo>
                <a:cubicBezTo>
                  <a:pt x="1583672" y="7268"/>
                  <a:pt x="1631711" y="-3367"/>
                  <a:pt x="1920621" y="0"/>
                </a:cubicBezTo>
                <a:cubicBezTo>
                  <a:pt x="2209531" y="3367"/>
                  <a:pt x="2364420" y="-19184"/>
                  <a:pt x="2488692" y="0"/>
                </a:cubicBezTo>
                <a:cubicBezTo>
                  <a:pt x="2612964" y="19184"/>
                  <a:pt x="3023298" y="-34627"/>
                  <a:pt x="3219069" y="0"/>
                </a:cubicBezTo>
                <a:cubicBezTo>
                  <a:pt x="3414840" y="34627"/>
                  <a:pt x="3656810" y="24043"/>
                  <a:pt x="3895344" y="0"/>
                </a:cubicBezTo>
                <a:cubicBezTo>
                  <a:pt x="4133879" y="-24043"/>
                  <a:pt x="4393984" y="-19577"/>
                  <a:pt x="4571619" y="0"/>
                </a:cubicBezTo>
                <a:cubicBezTo>
                  <a:pt x="4749255" y="19577"/>
                  <a:pt x="5179928" y="-6281"/>
                  <a:pt x="5410200" y="0"/>
                </a:cubicBezTo>
                <a:cubicBezTo>
                  <a:pt x="5410730" y="6954"/>
                  <a:pt x="5410934" y="12839"/>
                  <a:pt x="5410200" y="18288"/>
                </a:cubicBezTo>
                <a:cubicBezTo>
                  <a:pt x="5139060" y="6751"/>
                  <a:pt x="5121593" y="31035"/>
                  <a:pt x="4842129" y="18288"/>
                </a:cubicBezTo>
                <a:cubicBezTo>
                  <a:pt x="4562665" y="5541"/>
                  <a:pt x="4448273" y="9487"/>
                  <a:pt x="4328160" y="18288"/>
                </a:cubicBezTo>
                <a:cubicBezTo>
                  <a:pt x="4208047" y="27089"/>
                  <a:pt x="3760936" y="22567"/>
                  <a:pt x="3597783" y="18288"/>
                </a:cubicBezTo>
                <a:cubicBezTo>
                  <a:pt x="3434630" y="14009"/>
                  <a:pt x="3299718" y="33213"/>
                  <a:pt x="3029712" y="18288"/>
                </a:cubicBezTo>
                <a:cubicBezTo>
                  <a:pt x="2759706" y="3363"/>
                  <a:pt x="2640159" y="27394"/>
                  <a:pt x="2299335" y="18288"/>
                </a:cubicBezTo>
                <a:cubicBezTo>
                  <a:pt x="1958511" y="9182"/>
                  <a:pt x="1801186" y="28985"/>
                  <a:pt x="1514856" y="18288"/>
                </a:cubicBezTo>
                <a:cubicBezTo>
                  <a:pt x="1228526" y="7591"/>
                  <a:pt x="1063509" y="-5305"/>
                  <a:pt x="892683" y="18288"/>
                </a:cubicBezTo>
                <a:cubicBezTo>
                  <a:pt x="721857" y="41881"/>
                  <a:pt x="186945" y="-20897"/>
                  <a:pt x="0" y="18288"/>
                </a:cubicBezTo>
                <a:cubicBezTo>
                  <a:pt x="-570" y="9279"/>
                  <a:pt x="132" y="5100"/>
                  <a:pt x="0" y="0"/>
                </a:cubicBezTo>
                <a:close/>
              </a:path>
              <a:path w="5410200" h="18288" stroke="0" extrusionOk="0">
                <a:moveTo>
                  <a:pt x="0" y="0"/>
                </a:moveTo>
                <a:cubicBezTo>
                  <a:pt x="285096" y="-4925"/>
                  <a:pt x="376456" y="22268"/>
                  <a:pt x="622173" y="0"/>
                </a:cubicBezTo>
                <a:cubicBezTo>
                  <a:pt x="867890" y="-22268"/>
                  <a:pt x="1031392" y="7228"/>
                  <a:pt x="1136142" y="0"/>
                </a:cubicBezTo>
                <a:cubicBezTo>
                  <a:pt x="1240892" y="-7228"/>
                  <a:pt x="1561853" y="9877"/>
                  <a:pt x="1920621" y="0"/>
                </a:cubicBezTo>
                <a:cubicBezTo>
                  <a:pt x="2279389" y="-9877"/>
                  <a:pt x="2367255" y="19546"/>
                  <a:pt x="2542794" y="0"/>
                </a:cubicBezTo>
                <a:cubicBezTo>
                  <a:pt x="2718333" y="-19546"/>
                  <a:pt x="2866732" y="-22226"/>
                  <a:pt x="3164967" y="0"/>
                </a:cubicBezTo>
                <a:cubicBezTo>
                  <a:pt x="3463202" y="22226"/>
                  <a:pt x="3568055" y="-2765"/>
                  <a:pt x="3949446" y="0"/>
                </a:cubicBezTo>
                <a:cubicBezTo>
                  <a:pt x="4330837" y="2765"/>
                  <a:pt x="4287895" y="10557"/>
                  <a:pt x="4517517" y="0"/>
                </a:cubicBezTo>
                <a:cubicBezTo>
                  <a:pt x="4747139" y="-10557"/>
                  <a:pt x="5149588" y="8716"/>
                  <a:pt x="5410200" y="0"/>
                </a:cubicBezTo>
                <a:cubicBezTo>
                  <a:pt x="5409517" y="5414"/>
                  <a:pt x="5409480" y="12510"/>
                  <a:pt x="5410200" y="18288"/>
                </a:cubicBezTo>
                <a:cubicBezTo>
                  <a:pt x="5163327" y="41494"/>
                  <a:pt x="5008749" y="10693"/>
                  <a:pt x="4842129" y="18288"/>
                </a:cubicBezTo>
                <a:cubicBezTo>
                  <a:pt x="4675509" y="25883"/>
                  <a:pt x="4433401" y="-615"/>
                  <a:pt x="4165854" y="18288"/>
                </a:cubicBezTo>
                <a:cubicBezTo>
                  <a:pt x="3898308" y="37191"/>
                  <a:pt x="3809032" y="-8710"/>
                  <a:pt x="3543681" y="18288"/>
                </a:cubicBezTo>
                <a:cubicBezTo>
                  <a:pt x="3278330" y="45286"/>
                  <a:pt x="3073876" y="-15917"/>
                  <a:pt x="2759202" y="18288"/>
                </a:cubicBezTo>
                <a:cubicBezTo>
                  <a:pt x="2444528" y="52493"/>
                  <a:pt x="2204144" y="3372"/>
                  <a:pt x="1974723" y="18288"/>
                </a:cubicBezTo>
                <a:cubicBezTo>
                  <a:pt x="1745302" y="33204"/>
                  <a:pt x="1602335" y="31490"/>
                  <a:pt x="1406652" y="18288"/>
                </a:cubicBezTo>
                <a:cubicBezTo>
                  <a:pt x="1210969" y="5086"/>
                  <a:pt x="923948" y="3161"/>
                  <a:pt x="730377" y="18288"/>
                </a:cubicBezTo>
                <a:cubicBezTo>
                  <a:pt x="536806" y="33415"/>
                  <a:pt x="336496" y="-141"/>
                  <a:pt x="0" y="18288"/>
                </a:cubicBezTo>
                <a:cubicBezTo>
                  <a:pt x="-306" y="11061"/>
                  <a:pt x="-655" y="775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888689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39E8D0B-A88C-8689-43AC-3BB738087A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91692A1-E5A1-CADE-5D09-785DF5A11D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F6BD512-AE7A-3A13-0401-C142EA1AC9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51381"/>
            <a:ext cx="10512552" cy="406654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DEMO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4CDEF3-531D-2475-F07C-AF3B9C03C6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4983276"/>
            <a:ext cx="10512552" cy="1126680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buNone/>
            </a:pPr>
            <a:r>
              <a:rPr lang="en-US" sz="2400" dirty="0"/>
              <a:t>Setup AKS </a:t>
            </a:r>
            <a:r>
              <a:rPr lang="en-US" sz="2400"/>
              <a:t>using Terraform</a:t>
            </a:r>
            <a:endParaRPr lang="en-US" sz="2400" dirty="0"/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9DDA4AE3-947C-D045-7BB0-95BE1801ED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200" y="4718595"/>
            <a:ext cx="5410200" cy="18288"/>
          </a:xfrm>
          <a:custGeom>
            <a:avLst/>
            <a:gdLst>
              <a:gd name="csX0" fmla="*/ 0 w 5410200"/>
              <a:gd name="csY0" fmla="*/ 0 h 18288"/>
              <a:gd name="csX1" fmla="*/ 568071 w 5410200"/>
              <a:gd name="csY1" fmla="*/ 0 h 18288"/>
              <a:gd name="csX2" fmla="*/ 1298448 w 5410200"/>
              <a:gd name="csY2" fmla="*/ 0 h 18288"/>
              <a:gd name="csX3" fmla="*/ 1920621 w 5410200"/>
              <a:gd name="csY3" fmla="*/ 0 h 18288"/>
              <a:gd name="csX4" fmla="*/ 2488692 w 5410200"/>
              <a:gd name="csY4" fmla="*/ 0 h 18288"/>
              <a:gd name="csX5" fmla="*/ 3219069 w 5410200"/>
              <a:gd name="csY5" fmla="*/ 0 h 18288"/>
              <a:gd name="csX6" fmla="*/ 3895344 w 5410200"/>
              <a:gd name="csY6" fmla="*/ 0 h 18288"/>
              <a:gd name="csX7" fmla="*/ 4571619 w 5410200"/>
              <a:gd name="csY7" fmla="*/ 0 h 18288"/>
              <a:gd name="csX8" fmla="*/ 5410200 w 5410200"/>
              <a:gd name="csY8" fmla="*/ 0 h 18288"/>
              <a:gd name="csX9" fmla="*/ 5410200 w 5410200"/>
              <a:gd name="csY9" fmla="*/ 18288 h 18288"/>
              <a:gd name="csX10" fmla="*/ 4842129 w 5410200"/>
              <a:gd name="csY10" fmla="*/ 18288 h 18288"/>
              <a:gd name="csX11" fmla="*/ 4328160 w 5410200"/>
              <a:gd name="csY11" fmla="*/ 18288 h 18288"/>
              <a:gd name="csX12" fmla="*/ 3597783 w 5410200"/>
              <a:gd name="csY12" fmla="*/ 18288 h 18288"/>
              <a:gd name="csX13" fmla="*/ 3029712 w 5410200"/>
              <a:gd name="csY13" fmla="*/ 18288 h 18288"/>
              <a:gd name="csX14" fmla="*/ 2299335 w 5410200"/>
              <a:gd name="csY14" fmla="*/ 18288 h 18288"/>
              <a:gd name="csX15" fmla="*/ 1514856 w 5410200"/>
              <a:gd name="csY15" fmla="*/ 18288 h 18288"/>
              <a:gd name="csX16" fmla="*/ 892683 w 5410200"/>
              <a:gd name="csY16" fmla="*/ 18288 h 18288"/>
              <a:gd name="csX17" fmla="*/ 0 w 5410200"/>
              <a:gd name="csY17" fmla="*/ 18288 h 18288"/>
              <a:gd name="csX18" fmla="*/ 0 w 5410200"/>
              <a:gd name="csY18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</a:cxnLst>
            <a:rect l="l" t="t" r="r" b="b"/>
            <a:pathLst>
              <a:path w="5410200" h="18288" fill="none" extrusionOk="0">
                <a:moveTo>
                  <a:pt x="0" y="0"/>
                </a:moveTo>
                <a:cubicBezTo>
                  <a:pt x="163050" y="-18707"/>
                  <a:pt x="319321" y="-16364"/>
                  <a:pt x="568071" y="0"/>
                </a:cubicBezTo>
                <a:cubicBezTo>
                  <a:pt x="816821" y="16364"/>
                  <a:pt x="1013224" y="-7268"/>
                  <a:pt x="1298448" y="0"/>
                </a:cubicBezTo>
                <a:cubicBezTo>
                  <a:pt x="1583672" y="7268"/>
                  <a:pt x="1631711" y="-3367"/>
                  <a:pt x="1920621" y="0"/>
                </a:cubicBezTo>
                <a:cubicBezTo>
                  <a:pt x="2209531" y="3367"/>
                  <a:pt x="2364420" y="-19184"/>
                  <a:pt x="2488692" y="0"/>
                </a:cubicBezTo>
                <a:cubicBezTo>
                  <a:pt x="2612964" y="19184"/>
                  <a:pt x="3023298" y="-34627"/>
                  <a:pt x="3219069" y="0"/>
                </a:cubicBezTo>
                <a:cubicBezTo>
                  <a:pt x="3414840" y="34627"/>
                  <a:pt x="3656810" y="24043"/>
                  <a:pt x="3895344" y="0"/>
                </a:cubicBezTo>
                <a:cubicBezTo>
                  <a:pt x="4133879" y="-24043"/>
                  <a:pt x="4393984" y="-19577"/>
                  <a:pt x="4571619" y="0"/>
                </a:cubicBezTo>
                <a:cubicBezTo>
                  <a:pt x="4749255" y="19577"/>
                  <a:pt x="5179928" y="-6281"/>
                  <a:pt x="5410200" y="0"/>
                </a:cubicBezTo>
                <a:cubicBezTo>
                  <a:pt x="5410730" y="6954"/>
                  <a:pt x="5410934" y="12839"/>
                  <a:pt x="5410200" y="18288"/>
                </a:cubicBezTo>
                <a:cubicBezTo>
                  <a:pt x="5139060" y="6751"/>
                  <a:pt x="5121593" y="31035"/>
                  <a:pt x="4842129" y="18288"/>
                </a:cubicBezTo>
                <a:cubicBezTo>
                  <a:pt x="4562665" y="5541"/>
                  <a:pt x="4448273" y="9487"/>
                  <a:pt x="4328160" y="18288"/>
                </a:cubicBezTo>
                <a:cubicBezTo>
                  <a:pt x="4208047" y="27089"/>
                  <a:pt x="3760936" y="22567"/>
                  <a:pt x="3597783" y="18288"/>
                </a:cubicBezTo>
                <a:cubicBezTo>
                  <a:pt x="3434630" y="14009"/>
                  <a:pt x="3299718" y="33213"/>
                  <a:pt x="3029712" y="18288"/>
                </a:cubicBezTo>
                <a:cubicBezTo>
                  <a:pt x="2759706" y="3363"/>
                  <a:pt x="2640159" y="27394"/>
                  <a:pt x="2299335" y="18288"/>
                </a:cubicBezTo>
                <a:cubicBezTo>
                  <a:pt x="1958511" y="9182"/>
                  <a:pt x="1801186" y="28985"/>
                  <a:pt x="1514856" y="18288"/>
                </a:cubicBezTo>
                <a:cubicBezTo>
                  <a:pt x="1228526" y="7591"/>
                  <a:pt x="1063509" y="-5305"/>
                  <a:pt x="892683" y="18288"/>
                </a:cubicBezTo>
                <a:cubicBezTo>
                  <a:pt x="721857" y="41881"/>
                  <a:pt x="186945" y="-20897"/>
                  <a:pt x="0" y="18288"/>
                </a:cubicBezTo>
                <a:cubicBezTo>
                  <a:pt x="-570" y="9279"/>
                  <a:pt x="132" y="5100"/>
                  <a:pt x="0" y="0"/>
                </a:cubicBezTo>
                <a:close/>
              </a:path>
              <a:path w="5410200" h="18288" stroke="0" extrusionOk="0">
                <a:moveTo>
                  <a:pt x="0" y="0"/>
                </a:moveTo>
                <a:cubicBezTo>
                  <a:pt x="285096" y="-4925"/>
                  <a:pt x="376456" y="22268"/>
                  <a:pt x="622173" y="0"/>
                </a:cubicBezTo>
                <a:cubicBezTo>
                  <a:pt x="867890" y="-22268"/>
                  <a:pt x="1031392" y="7228"/>
                  <a:pt x="1136142" y="0"/>
                </a:cubicBezTo>
                <a:cubicBezTo>
                  <a:pt x="1240892" y="-7228"/>
                  <a:pt x="1561853" y="9877"/>
                  <a:pt x="1920621" y="0"/>
                </a:cubicBezTo>
                <a:cubicBezTo>
                  <a:pt x="2279389" y="-9877"/>
                  <a:pt x="2367255" y="19546"/>
                  <a:pt x="2542794" y="0"/>
                </a:cubicBezTo>
                <a:cubicBezTo>
                  <a:pt x="2718333" y="-19546"/>
                  <a:pt x="2866732" y="-22226"/>
                  <a:pt x="3164967" y="0"/>
                </a:cubicBezTo>
                <a:cubicBezTo>
                  <a:pt x="3463202" y="22226"/>
                  <a:pt x="3568055" y="-2765"/>
                  <a:pt x="3949446" y="0"/>
                </a:cubicBezTo>
                <a:cubicBezTo>
                  <a:pt x="4330837" y="2765"/>
                  <a:pt x="4287895" y="10557"/>
                  <a:pt x="4517517" y="0"/>
                </a:cubicBezTo>
                <a:cubicBezTo>
                  <a:pt x="4747139" y="-10557"/>
                  <a:pt x="5149588" y="8716"/>
                  <a:pt x="5410200" y="0"/>
                </a:cubicBezTo>
                <a:cubicBezTo>
                  <a:pt x="5409517" y="5414"/>
                  <a:pt x="5409480" y="12510"/>
                  <a:pt x="5410200" y="18288"/>
                </a:cubicBezTo>
                <a:cubicBezTo>
                  <a:pt x="5163327" y="41494"/>
                  <a:pt x="5008749" y="10693"/>
                  <a:pt x="4842129" y="18288"/>
                </a:cubicBezTo>
                <a:cubicBezTo>
                  <a:pt x="4675509" y="25883"/>
                  <a:pt x="4433401" y="-615"/>
                  <a:pt x="4165854" y="18288"/>
                </a:cubicBezTo>
                <a:cubicBezTo>
                  <a:pt x="3898308" y="37191"/>
                  <a:pt x="3809032" y="-8710"/>
                  <a:pt x="3543681" y="18288"/>
                </a:cubicBezTo>
                <a:cubicBezTo>
                  <a:pt x="3278330" y="45286"/>
                  <a:pt x="3073876" y="-15917"/>
                  <a:pt x="2759202" y="18288"/>
                </a:cubicBezTo>
                <a:cubicBezTo>
                  <a:pt x="2444528" y="52493"/>
                  <a:pt x="2204144" y="3372"/>
                  <a:pt x="1974723" y="18288"/>
                </a:cubicBezTo>
                <a:cubicBezTo>
                  <a:pt x="1745302" y="33204"/>
                  <a:pt x="1602335" y="31490"/>
                  <a:pt x="1406652" y="18288"/>
                </a:cubicBezTo>
                <a:cubicBezTo>
                  <a:pt x="1210969" y="5086"/>
                  <a:pt x="923948" y="3161"/>
                  <a:pt x="730377" y="18288"/>
                </a:cubicBezTo>
                <a:cubicBezTo>
                  <a:pt x="536806" y="33415"/>
                  <a:pt x="336496" y="-141"/>
                  <a:pt x="0" y="18288"/>
                </a:cubicBezTo>
                <a:cubicBezTo>
                  <a:pt x="-306" y="11061"/>
                  <a:pt x="-655" y="775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113519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389575E1-3389-451A-A5F7-27854C25C5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4293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53CCC5C-D88E-40FB-B30B-23DCDBD01D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4"/>
            <a:ext cx="4167268" cy="685800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6" name="Arc 25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F4E26-D1F3-EC07-4782-463CFD06FA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8" y="591344"/>
            <a:ext cx="6906491" cy="5585619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/>
              <a:t>Questions ?</a:t>
            </a:r>
          </a:p>
        </p:txBody>
      </p:sp>
    </p:spTree>
    <p:extLst>
      <p:ext uri="{BB962C8B-B14F-4D97-AF65-F5344CB8AC3E}">
        <p14:creationId xmlns:p14="http://schemas.microsoft.com/office/powerpoint/2010/main" val="193636877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8299C4-A57F-F76F-A252-0BDFCC66E6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D79EAD09-A52B-3F40-20A0-992FD5B02C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4293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3C6766D-7230-6D6A-2178-AFEA6D3E88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4"/>
            <a:ext cx="4167268" cy="685800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6" name="Arc 25">
            <a:extLst>
              <a:ext uri="{FF2B5EF4-FFF2-40B4-BE49-F238E27FC236}">
                <a16:creationId xmlns:a16="http://schemas.microsoft.com/office/drawing/2014/main" id="{7098CF42-3639-BD0B-AB92-5E94C9F7FB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BE6953-44A8-E351-F8C5-9B2D6522B5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8" y="591344"/>
            <a:ext cx="6906491" cy="5585619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dirty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14091843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663</Words>
  <Application>Microsoft Office PowerPoint</Application>
  <PresentationFormat>Widescreen</PresentationFormat>
  <Paragraphs>105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16</vt:i4>
      </vt:variant>
    </vt:vector>
  </HeadingPairs>
  <TitlesOfParts>
    <vt:vector size="24" baseType="lpstr">
      <vt:lpstr>Aptos</vt:lpstr>
      <vt:lpstr>Aptos Display</vt:lpstr>
      <vt:lpstr>Aptos Narrow</vt:lpstr>
      <vt:lpstr>Arial</vt:lpstr>
      <vt:lpstr>Calibri</vt:lpstr>
      <vt:lpstr>SFMono-Regular</vt:lpstr>
      <vt:lpstr>Office Theme</vt:lpstr>
      <vt:lpstr>1_Office Theme</vt:lpstr>
      <vt:lpstr>AKS Workshop</vt:lpstr>
      <vt:lpstr>Introduction to AKS</vt:lpstr>
      <vt:lpstr>Azure Kubernetes Service (AKS)</vt:lpstr>
      <vt:lpstr>Container Solutions in Azure</vt:lpstr>
      <vt:lpstr>Use Cases for AKS</vt:lpstr>
      <vt:lpstr>Core AKS Concepts</vt:lpstr>
      <vt:lpstr>Core AKS Concepts</vt:lpstr>
      <vt:lpstr>Core AKS Concepts</vt:lpstr>
      <vt:lpstr>Setting up an AKS Cluster</vt:lpstr>
      <vt:lpstr>Setup an AKS Cluster</vt:lpstr>
      <vt:lpstr>DEMO</vt:lpstr>
      <vt:lpstr>DEMO</vt:lpstr>
      <vt:lpstr>DEMO</vt:lpstr>
      <vt:lpstr>DEMO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Faik Hakan Bilgen</dc:creator>
  <cp:lastModifiedBy>Faik Hakan Bilgen</cp:lastModifiedBy>
  <cp:revision>1</cp:revision>
  <dcterms:created xsi:type="dcterms:W3CDTF">2026-01-16T08:19:19Z</dcterms:created>
  <dcterms:modified xsi:type="dcterms:W3CDTF">2026-01-21T07:46:29Z</dcterms:modified>
</cp:coreProperties>
</file>